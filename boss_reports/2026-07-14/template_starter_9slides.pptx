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8749d6f6f64e3e" /><Relationship Type="http://schemas.openxmlformats.org/officeDocument/2006/relationships/extended-properties" Target="/docProps/app.xml" Id="R92a71e4d477c428e" /><Relationship Type="http://schemas.openxmlformats.org/officeDocument/2006/relationships/officeDocument" Target="/ppt/presentation.xml" Id="Ra506a880fc474b3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db4cdbabd9b2493b"/>
  </p:sldMasterIdLst>
  <p:notesMasterIdLst>
    <p:notesMasterId xmlns:r="http://schemas.openxmlformats.org/officeDocument/2006/relationships" r:id="R7cc37259e2d244f7"/>
  </p:notesMasterIdLst>
  <p:sldIdLst>
    <p:sldId xmlns:r="http://schemas.openxmlformats.org/officeDocument/2006/relationships" id="256" r:id="R1bf8b2cc751548f7"/>
    <p:sldId xmlns:r="http://schemas.openxmlformats.org/officeDocument/2006/relationships" id="257" r:id="R1e2bf04328a84c45"/>
    <p:sldId xmlns:r="http://schemas.openxmlformats.org/officeDocument/2006/relationships" id="258" r:id="R43d06f4437c64351"/>
    <p:sldId xmlns:r="http://schemas.openxmlformats.org/officeDocument/2006/relationships" id="259" r:id="R3705a5c3a12b4bac"/>
    <p:sldId xmlns:r="http://schemas.openxmlformats.org/officeDocument/2006/relationships" id="260" r:id="Rea2e96808aad4e9d"/>
    <p:sldId xmlns:r="http://schemas.openxmlformats.org/officeDocument/2006/relationships" id="261" r:id="R1f9a4d7dfa514b71"/>
    <p:sldId xmlns:r="http://schemas.openxmlformats.org/officeDocument/2006/relationships" id="262" r:id="Rc3a2d3b66b5b47f9"/>
    <p:sldId xmlns:r="http://schemas.openxmlformats.org/officeDocument/2006/relationships" id="263" r:id="R97c75d043fff47b2"/>
    <p:sldId xmlns:r="http://schemas.openxmlformats.org/officeDocument/2006/relationships" id="264" r:id="R9bbbd01d5fbf495f"/>
  </p:sldIdLst>
  <p:sldSz cx="9144000" cy="5143500"/>
  <p:notesSz cx="6858000" cy="9144000"/>
  <p:embeddedFontLst>
    <p:embeddedFont>
      <p:font typeface="Roboto"/>
      <p:regular xmlns:r="http://schemas.openxmlformats.org/officeDocument/2006/relationships" r:id="R606c19a67d674fd4"/>
      <p:bold xmlns:r="http://schemas.openxmlformats.org/officeDocument/2006/relationships" r:id="R46d22e76e0764187"/>
      <p:italic xmlns:r="http://schemas.openxmlformats.org/officeDocument/2006/relationships" r:id="Ra3273684f3564eff"/>
      <p:boldItalic xmlns:r="http://schemas.openxmlformats.org/officeDocument/2006/relationships" r:id="Rc4c1e5d4e2824ba5"/>
    </p:embeddedFont>
    <p:embeddedFont>
      <p:font typeface="Roboto Mono"/>
      <p:regular xmlns:r="http://schemas.openxmlformats.org/officeDocument/2006/relationships" r:id="R6af14d50cd3a4b1f"/>
      <p:bold xmlns:r="http://schemas.openxmlformats.org/officeDocument/2006/relationships" r:id="Rb1757f30464d463f"/>
      <p:italic xmlns:r="http://schemas.openxmlformats.org/officeDocument/2006/relationships" r:id="Re03ba41d3fdb418d"/>
      <p:boldItalic xmlns:r="http://schemas.openxmlformats.org/officeDocument/2006/relationships" r:id="Rd889974931ea423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32258CD8-6C08-4B06-9A69-049B32C136D7}">
  <a:tblStyle styleId="{32258CD8-6C08-4B06-9A69-049B32C136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1fed3426834167" /><Relationship Type="http://schemas.openxmlformats.org/officeDocument/2006/relationships/slideMaster" Target="/ppt/slideMasters/slideMaster1.xml" Id="Rdb4cdbabd9b2493b" /><Relationship Type="http://schemas.openxmlformats.org/officeDocument/2006/relationships/notesMaster" Target="/ppt/notesMasters/notesMaster1.xml" Id="R7cc37259e2d244f7" /><Relationship Type="http://schemas.openxmlformats.org/officeDocument/2006/relationships/presProps" Target="/ppt/presProps.xml" Id="R643a980fddd5429a" /><Relationship Type="http://schemas.openxmlformats.org/officeDocument/2006/relationships/viewProps" Target="/ppt/viewProps.xml" Id="R3cdbca80a4fb4b0c" /><Relationship Type="http://schemas.openxmlformats.org/officeDocument/2006/relationships/tableStyles" Target="/ppt/tableStyles.xml" Id="R6380f51e4a4349a7" /><Relationship Type="http://schemas.openxmlformats.org/officeDocument/2006/relationships/font" Target="/ppt/fonts/font.dat" Id="R606c19a67d674fd4" /><Relationship Type="http://schemas.openxmlformats.org/officeDocument/2006/relationships/font" Target="/ppt/fonts/font2.dat" Id="R46d22e76e0764187" /><Relationship Type="http://schemas.openxmlformats.org/officeDocument/2006/relationships/font" Target="/ppt/fonts/font3.dat" Id="Ra3273684f3564eff" /><Relationship Type="http://schemas.openxmlformats.org/officeDocument/2006/relationships/font" Target="/ppt/fonts/font4.dat" Id="Rc4c1e5d4e2824ba5" /><Relationship Type="http://schemas.openxmlformats.org/officeDocument/2006/relationships/font" Target="/ppt/fonts/font5.dat" Id="R6af14d50cd3a4b1f" /><Relationship Type="http://schemas.openxmlformats.org/officeDocument/2006/relationships/font" Target="/ppt/fonts/font6.dat" Id="Rb1757f30464d463f" /><Relationship Type="http://schemas.openxmlformats.org/officeDocument/2006/relationships/font" Target="/ppt/fonts/font7.dat" Id="Re03ba41d3fdb418d" /><Relationship Type="http://schemas.openxmlformats.org/officeDocument/2006/relationships/font" Target="/ppt/fonts/font8.dat" Id="Rd889974931ea423f" /><Relationship Type="http://schemas.openxmlformats.org/officeDocument/2006/relationships/slide" Target="/ppt/slides/slide1.xml" Id="R1bf8b2cc751548f7" /><Relationship Type="http://schemas.openxmlformats.org/officeDocument/2006/relationships/slide" Target="/ppt/slides/slide2.xml" Id="R1e2bf04328a84c45" /><Relationship Type="http://schemas.openxmlformats.org/officeDocument/2006/relationships/slide" Target="/ppt/slides/slide3.xml" Id="R43d06f4437c64351" /><Relationship Type="http://schemas.openxmlformats.org/officeDocument/2006/relationships/slide" Target="/ppt/slides/slide4.xml" Id="R3705a5c3a12b4bac" /><Relationship Type="http://schemas.openxmlformats.org/officeDocument/2006/relationships/slide" Target="/ppt/slides/slide5.xml" Id="Rea2e96808aad4e9d" /><Relationship Type="http://schemas.openxmlformats.org/officeDocument/2006/relationships/slide" Target="/ppt/slides/slide6.xml" Id="R1f9a4d7dfa514b71" /><Relationship Type="http://schemas.openxmlformats.org/officeDocument/2006/relationships/slide" Target="/ppt/slides/slide7.xml" Id="Rc3a2d3b66b5b47f9" /><Relationship Type="http://schemas.openxmlformats.org/officeDocument/2006/relationships/slide" Target="/ppt/slides/slide8.xml" Id="R97c75d043fff47b2" /><Relationship Type="http://schemas.openxmlformats.org/officeDocument/2006/relationships/slide" Target="/ppt/slides/slide9.xml" Id="R9bbbd01d5fbf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9c67f8214644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3c56f527c44550" /><Relationship Type="http://schemas.openxmlformats.org/officeDocument/2006/relationships/notesMaster" Target="/ppt/notesMasters/notesMaster1.xml" Id="R62fa79c9edb248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c40c6c86344bb2" /><Relationship Type="http://schemas.openxmlformats.org/officeDocument/2006/relationships/notesMaster" Target="/ppt/notesMasters/notesMaster1.xml" Id="R41e74cc0b0f24f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719ee0a1864dae" /><Relationship Type="http://schemas.openxmlformats.org/officeDocument/2006/relationships/notesMaster" Target="/ppt/notesMasters/notesMaster1.xml" Id="R712fbbdce1ee42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dc7ca50c164402" /><Relationship Type="http://schemas.openxmlformats.org/officeDocument/2006/relationships/notesMaster" Target="/ppt/notesMasters/notesMaster1.xml" Id="R956856bf4ef1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a9305b8ec34b20" /><Relationship Type="http://schemas.openxmlformats.org/officeDocument/2006/relationships/notesMaster" Target="/ppt/notesMasters/notesMaster1.xml" Id="R398da6f46c7c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0b69365a074287" /><Relationship Type="http://schemas.openxmlformats.org/officeDocument/2006/relationships/notesMaster" Target="/ppt/notesMasters/notesMaster1.xml" Id="R78358c4033ac4b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b15d7a79354d40" /><Relationship Type="http://schemas.openxmlformats.org/officeDocument/2006/relationships/notesMaster" Target="/ppt/notesMasters/notesMaster1.xml" Id="R867d326ff3a348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162dd3ca1f499e" /><Relationship Type="http://schemas.openxmlformats.org/officeDocument/2006/relationships/notesMaster" Target="/ppt/notesMasters/notesMaster1.xml" Id="Rf1eb1db22c744f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7510e160634651" /><Relationship Type="http://schemas.openxmlformats.org/officeDocument/2006/relationships/notesMaster" Target="/ppt/notesMasters/notesMaster1.xml" Id="R026143f45aa446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管线搭好并完整跑通了(脚本可复用,数据一更新就能重跑)。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lr=4e-4，global bsz=512，调整算力为</a:t>
            </a:r>
            <a:br/>
            <a:r>
              <a:t>4729	C2	110,067	2,642	3 days	PD Priority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4730	C3	176,108	4,227	4 days	PD Priority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4731	C4	281,772	6,762	6 days	PD Priority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4732	C5	450,835	10,820	9 days	PD Priority</a:t>
            </a:r>
            <a:br/>
            <a:br/>
            <a:r>
              <a:t>图1</a:t>
            </a:r>
            <a:b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lr=4e-4，global bsz=512，调整算力为</a:t>
            </a:r>
            <a:br/>
            <a:r>
              <a:t>4729	C2	110,067	2,642	3 days	PD Priority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4730	C3	176,108	4,227	4 days	PD Priority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4731	C4	281,772	6,762	6 days	PD Priority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4732	C5	450,835	10,820	9 days	PD Priority</a:t>
            </a:r>
            <a:br/>
            <a:br/>
            <a:r>
              <a:t>图1</a:t>
            </a:r>
            <a:b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9d011c6444e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a659ae88c4c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85965f8c941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9f2ccf9d844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8f39bb4cf47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0c6a18d984be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1c4c5a6f042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edd07881649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3061f845447f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99208d05846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b4a4d611141d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B166C34A-38B4-4347-A15C-C3D6767CB4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A9252E1D-EE7B-4D18-95CA-94A5ECE03A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4C55BA1-8DE3-4567-AD5B-08C76A2A4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8E6FF22-B45F-4E27-B8D4-0EB3DAD2D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A1C361E-6A6D-4ABC-B2DE-5CED5654D9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FB62551-F872-413B-9E0A-FDBA02B63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A5686B10-8DD9-40CE-A598-9DB5211F4D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498614D2-A640-4874-A37A-91ADB47485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43ACAA12-E12B-4366-88AB-1EF729BEE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C41C939E-7670-46F0-BE7E-E2528AAA3B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B351BE92-04BA-4351-927F-A25D9E0C70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ED2765DB-3741-4DED-BABA-C88B1EF52D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FB2F43A-4E8B-4984-8CF9-627494FC6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0BDA3BEC-4A6F-4256-98FC-16E9E938DF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081C92A1-46E1-46AA-8959-AB4E810AD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8F192D27-3616-4490-AFEC-D79290418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DB8477C-7C95-4BF7-8ADA-464BD5F8F5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E1977010-FCD7-4C5A-89A9-73A9221D7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3A6C2268-B741-44CE-99D5-4430D5288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15244202-7E66-4D11-9F8C-87F7B060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4173FCA-E207-4DBD-9033-0026CB5B7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62945E9-CCC1-4EAA-B2AE-9D0D33E7D7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98BBCE13-0422-4A87-A36F-3EA22BE64C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D43DFF17-3294-4419-9987-22DDC9DD69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81F39CD2-6DFF-4945-9939-FECE666FEE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E8F5C227-E254-4CD5-B3BF-9E87D4E90A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0346F114-E2E0-4878-9315-A6DFBC8118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E4E40DD2-9131-49EB-BCC8-200A09831D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3C4CDE5-5719-43BB-AB26-D3AF40846C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459162F-F543-4A68-918D-2EA7D86A6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20d0c7fd8a4bac" /><Relationship Type="http://schemas.openxmlformats.org/officeDocument/2006/relationships/slideLayout" Target="/ppt/slideLayouts/slideLayout1.xml" Id="R51ae81be779e455e" /><Relationship Type="http://schemas.openxmlformats.org/officeDocument/2006/relationships/slideLayout" Target="/ppt/slideLayouts/slideLayout2.xml" Id="Ra0ffc08eefaf42dd" /><Relationship Type="http://schemas.openxmlformats.org/officeDocument/2006/relationships/slideLayout" Target="/ppt/slideLayouts/slideLayout3.xml" Id="Rcdec2a1ba6154e80" /><Relationship Type="http://schemas.openxmlformats.org/officeDocument/2006/relationships/slideLayout" Target="/ppt/slideLayouts/slideLayout4.xml" Id="R4113ba3383ff4a5e" /><Relationship Type="http://schemas.openxmlformats.org/officeDocument/2006/relationships/slideLayout" Target="/ppt/slideLayouts/slideLayout5.xml" Id="Rffd0cd8df3ab4216" /><Relationship Type="http://schemas.openxmlformats.org/officeDocument/2006/relationships/slideLayout" Target="/ppt/slideLayouts/slideLayout6.xml" Id="Re5c627408db2425c" /><Relationship Type="http://schemas.openxmlformats.org/officeDocument/2006/relationships/slideLayout" Target="/ppt/slideLayouts/slideLayout7.xml" Id="Rbdf4ff047f78416f" /><Relationship Type="http://schemas.openxmlformats.org/officeDocument/2006/relationships/slideLayout" Target="/ppt/slideLayouts/slideLayout8.xml" Id="R082b4ff6d82f4d46" /><Relationship Type="http://schemas.openxmlformats.org/officeDocument/2006/relationships/slideLayout" Target="/ppt/slideLayouts/slideLayout9.xml" Id="R8a06efaceae247f6" /><Relationship Type="http://schemas.openxmlformats.org/officeDocument/2006/relationships/slideLayout" Target="/ppt/slideLayouts/slideLayout10.xml" Id="R2367c45d256643d6" /><Relationship Type="http://schemas.openxmlformats.org/officeDocument/2006/relationships/slideLayout" Target="/ppt/slideLayouts/slideLayout11.xml" Id="Rf657f6c87dc44423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54AFDEA-234F-4ADF-885D-4BCF37EE7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B07F339D-9503-4A83-A8BD-76C44FFCDB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9DC6A97A-7D05-4569-998D-B378D0ED4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ae81be779e455e"/>
    <p:sldLayoutId xmlns:r="http://schemas.openxmlformats.org/officeDocument/2006/relationships" id="2147483650" r:id="Ra0ffc08eefaf42dd"/>
    <p:sldLayoutId xmlns:r="http://schemas.openxmlformats.org/officeDocument/2006/relationships" id="2147483651" r:id="Rcdec2a1ba6154e80"/>
    <p:sldLayoutId xmlns:r="http://schemas.openxmlformats.org/officeDocument/2006/relationships" id="2147483652" r:id="R4113ba3383ff4a5e"/>
    <p:sldLayoutId xmlns:r="http://schemas.openxmlformats.org/officeDocument/2006/relationships" id="2147483653" r:id="Rffd0cd8df3ab4216"/>
    <p:sldLayoutId xmlns:r="http://schemas.openxmlformats.org/officeDocument/2006/relationships" id="2147483654" r:id="Re5c627408db2425c"/>
    <p:sldLayoutId xmlns:r="http://schemas.openxmlformats.org/officeDocument/2006/relationships" id="2147483655" r:id="Rbdf4ff047f78416f"/>
    <p:sldLayoutId xmlns:r="http://schemas.openxmlformats.org/officeDocument/2006/relationships" id="2147483656" r:id="R082b4ff6d82f4d46"/>
    <p:sldLayoutId xmlns:r="http://schemas.openxmlformats.org/officeDocument/2006/relationships" id="2147483657" r:id="R8a06efaceae247f6"/>
    <p:sldLayoutId xmlns:r="http://schemas.openxmlformats.org/officeDocument/2006/relationships" id="2147483658" r:id="R2367c45d256643d6"/>
    <p:sldLayoutId xmlns:r="http://schemas.openxmlformats.org/officeDocument/2006/relationships" id="2147483659" r:id="Rf657f6c87dc44423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6461e14bb4c00" /><Relationship Type="http://schemas.openxmlformats.org/officeDocument/2006/relationships/notesSlide" Target="/ppt/notesSlides/notesSlide1.xml" Id="R946c87c066054e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621440eb3a4371" /><Relationship Type="http://schemas.openxmlformats.org/officeDocument/2006/relationships/notesSlide" Target="/ppt/notesSlides/notesSlide2.xml" Id="R74a2da73db464c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08256cd3294289" /><Relationship Type="http://schemas.openxmlformats.org/officeDocument/2006/relationships/notesSlide" Target="/ppt/notesSlides/notesSlide3.xml" Id="R947e5d6b226a46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adb916c89b4d60" /><Relationship Type="http://schemas.openxmlformats.org/officeDocument/2006/relationships/notesSlide" Target="/ppt/notesSlides/notesSlide4.xml" Id="Rda6f7bf9fd8947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0e8897e571406d" /><Relationship Type="http://schemas.openxmlformats.org/officeDocument/2006/relationships/notesSlide" Target="/ppt/notesSlides/notesSlide5.xml" Id="Rc0a004bc309b47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d5a3a901654e51" /><Relationship Type="http://schemas.openxmlformats.org/officeDocument/2006/relationships/notesSlide" Target="/ppt/notesSlides/notesSlide6.xml" Id="Re7a5f3aa4d0142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b99f89a3ab4092" /><Relationship Type="http://schemas.openxmlformats.org/officeDocument/2006/relationships/notesSlide" Target="/ppt/notesSlides/notesSlide7.xml" Id="R72c8247fdb2a45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cb4639d79c4fda" /><Relationship Type="http://schemas.openxmlformats.org/officeDocument/2006/relationships/notesSlide" Target="/ppt/notesSlides/notesSlide8.xml" Id="R0c4adc4915164c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a8773f10ee42f4" /><Relationship Type="http://schemas.openxmlformats.org/officeDocument/2006/relationships/notesSlide" Target="/ppt/notesSlides/notesSlide9.xml" Id="Rf4ce806735c646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9A776632-AFB4-47A2-A227-5CB09B1F61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ablm-scaling law</a:t>
            </a:r>
          </a:p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27808B16-A6CC-422C-BEFB-21262ACA3A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129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Ollie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6.24</a:t>
            </a:r>
          </a:p>
        </p:txBody>
      </p:sp>
    </p:spTree>
    <p:extLst>
      <p:ext uri="{BB962C8B-B14F-4D97-AF65-F5344CB8AC3E}">
        <p14:creationId xmlns:p14="http://schemas.microsoft.com/office/powerpoint/2010/main" val="15462601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25">
            <a:extLst xmlns:a="http://schemas.openxmlformats.org/drawingml/2006/main">
              <a:ext uri="{FF2B5EF4-FFF2-40B4-BE49-F238E27FC236}">
                <a16:creationId xmlns:a16="http://schemas.microsoft.com/office/drawing/2014/main" id="{8FEA7501-48CA-4A4E-ADC0-E26470E6B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aim1完成：做好mup completep之后，不论改flops/N都不用调lr</a:t>
            </a:r>
          </a:p>
        </p:txBody>
      </p:sp>
      <p:sp>
        <p:nvSpPr>
          <p:cNvPr id="134" name="Google Shape;134;p25">
            <a:extLst xmlns:a="http://schemas.openxmlformats.org/drawingml/2006/main">
              <a:ext uri="{FF2B5EF4-FFF2-40B4-BE49-F238E27FC236}">
                <a16:creationId xmlns:a16="http://schemas.microsoft.com/office/drawing/2014/main" id="{04B34B03-58E2-45D5-A14B-0817BB5E17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indent="-2921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000">
                <a:solidFill>
                  <a:srgbClr val="0A0A0A"/>
                </a:solidFill>
                <a:highlight>
                  <a:srgbClr val="F8F8F6"/>
                </a:highlight>
                <a:latin typeface="Roboto"/>
                <a:ea typeface="Roboto"/>
                <a:cs typeface="Roboto"/>
              </a:rPr>
              <a:t>参数化已验证可用 ✅;</a:t>
            </a:r>
          </a:p>
          <a:p xmlns:a="http://schemas.openxmlformats.org/drawingml/2006/main">
            <a:pPr marL="457200" indent="-2921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000">
                <a:solidFill>
                  <a:srgbClr val="0A0A0A"/>
                </a:solidFill>
                <a:highlight>
                  <a:srgbClr val="F8F8F6"/>
                </a:highlight>
                <a:latin typeface="Roboto"/>
                <a:ea typeface="Roboto"/>
                <a:cs typeface="Roboto"/>
              </a:rPr>
              <a:t>就差 base_lr(~12h,~2.5–5e-3)✅;</a:t>
            </a:r>
          </a:p>
          <a:p xmlns:a="http://schemas.openxmlformats.org/drawingml/2006/main">
            <a:pPr marL="457200" indent="-2921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000">
                <a:solidFill>
                  <a:srgbClr val="0A0A0A"/>
                </a:solidFill>
                <a:highlight>
                  <a:srgbClr val="F8F8F6"/>
                </a:highlight>
                <a:latin typeface="Roboto"/>
                <a:ea typeface="Roboto"/>
                <a:cs typeface="Roboto"/>
              </a:rPr>
              <a:t>锁定后换 model size 确实不用重调 LR ✅</a:t>
            </a:r>
          </a:p>
        </p:txBody>
      </p:sp>
      <p:graphicFrame>
        <p:nvGraphicFramePr>
          <p:cNvPr id="138" name="Google Shape;135;p25"/>
          <p:cNvGraphicFramePr/>
          <p:nvPr/>
        </p:nvGraphicFramePr>
        <p:xfrm>
          <a:off xmlns:a="http://schemas.openxmlformats.org/drawingml/2006/main" x="276625" y="2499150"/>
          <a:ext xmlns:a="http://schemas.openxmlformats.org/drawingml/2006/main" cx="9144000" cy="1105154"/>
        </p:xfrm>
        <a:graphic xmlns:a="http://schemas.openxmlformats.org/drawingml/2006/main">
          <a:graphicData uri="http://schemas.openxmlformats.org/drawingml/2006/table">
            <a:tbl>
              <a:tblPr>
                <a:solidFill>
                  <a:srgbClr val="F8F8F6"/>
                </a:solidFill>
                <a:tableStyleId>{32258CD8-6C08-4B06-9A69-049B32C136D7}</a:tableStyleId>
              </a:tblPr>
              <a:tblGrid>
                <a:gridCol w="2038350"/>
                <a:gridCol w="2257425"/>
                <a:gridCol w="4848225"/>
              </a:tblGrid>
              <a:tr h="2571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轴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变它时 LR 要重调吗?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谁负责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N(width &amp; depth)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不用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✅ muP/complete-P(这就是你做这一切的兑现)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U(unique 数据量)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muP 不管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训练时长效应(见下)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R(epoch 重复)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muP 不管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训练时长效应(见下)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9142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E9CD3889-79BC-403D-9740-080576CA9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mup-completep eval: joint coord-check(坐标检查)</a:t>
            </a:r>
          </a:p>
        </p:txBody>
      </p:sp>
      <p:sp>
        <p:nvSpPr>
          <p:cNvPr id="113" name="Google Shape;113;p22">
            <a:extLst xmlns:a="http://schemas.openxmlformats.org/drawingml/2006/main">
              <a:ext uri="{FF2B5EF4-FFF2-40B4-BE49-F238E27FC236}">
                <a16:creationId xmlns:a16="http://schemas.microsoft.com/office/drawing/2014/main" id="{180F5ABB-308C-4059-926D-0D208249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1253000"/>
            <a:ext cx="8520600" cy="29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40m/80m/124m/320m/650m(hidden 512→1280、depth 13→33、heads 8→20、head_dim 非单调 64/40/50/48/64),da=0.5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真实的"宽+深+heads 一起长"路径在 complete-P da=0.5 下迁移成立(0.120),而非-muP 对照直接爆到 1.024。诚实说:0.120 比单轴的 0.091 略差(mean 沿路径漂 ~N^-0.12),多出来的漂移主要来自 head_dim 非单调(真实 shape 不在"heads 固定、head_dim 单调增"的干净 muP 路径上)。但仍在可接受带内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base_lr = 2.5e-3</a:t>
            </a:r>
          </a:p>
        </p:txBody>
      </p:sp>
      <p:graphicFrame>
        <p:nvGraphicFramePr>
          <p:cNvPr id="117" name="Google Shape;114;p22"/>
          <p:cNvGraphicFramePr/>
          <p:nvPr/>
        </p:nvGraphicFramePr>
        <p:xfrm>
          <a:off xmlns:a="http://schemas.openxmlformats.org/drawingml/2006/main" x="37000" y="1818800"/>
          <a:ext xmlns:a="http://schemas.openxmlformats.org/drawingml/2006/main" cx="9144000" cy="938784"/>
        </p:xfrm>
        <a:graphic xmlns:a="http://schemas.openxmlformats.org/drawingml/2006/main">
          <a:graphicData uri="http://schemas.openxmlformats.org/drawingml/2006/table">
            <a:tbl>
              <a:tblPr>
                <a:solidFill>
                  <a:srgbClr val="FDFDFC"/>
                </a:solidFill>
                <a:tableStyleId>{32258CD8-6C08-4B06-9A69-049B32C136D7}</a:tableStyleId>
              </a:tblPr>
              <a:tblGrid>
                <a:gridCol w="2333625"/>
                <a:gridCol w="3133725"/>
                <a:gridCol w="3676650"/>
              </a:tblGrid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路径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JOINT transfer score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判定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completep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0.120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✅ PASS(ok 带 0.10–0.20)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sp 非-muP 对照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1.024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❌ 严重破(对照强烈区分)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021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41">
            <a:extLst xmlns:a="http://schemas.openxmlformats.org/drawingml/2006/main">
              <a:ext uri="{FF2B5EF4-FFF2-40B4-BE49-F238E27FC236}">
                <a16:creationId xmlns:a16="http://schemas.microsoft.com/office/drawing/2014/main" id="{086BC29B-21DD-47F4-A695-7C3D50A89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steps</a:t>
            </a:r>
          </a:p>
        </p:txBody>
      </p:sp>
      <p:sp>
        <p:nvSpPr>
          <p:cNvPr id="251" name="Google Shape;251;p41">
            <a:extLst xmlns:a="http://schemas.openxmlformats.org/drawingml/2006/main">
              <a:ext uri="{FF2B5EF4-FFF2-40B4-BE49-F238E27FC236}">
                <a16:creationId xmlns:a16="http://schemas.microsoft.com/office/drawing/2014/main" id="{7CEC74BF-7112-44F3-8C06-0EE66E2E8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25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FRESH 臂钉 β → rdREP 臂钉 R_d*/拐点(含过拟合项)→ 把两者代入 isoJ 曲面锁 E、A、α → 解析导出 N*(C)、R*(C) 前沿</a:t>
            </a:r>
          </a:p>
          <a:p xmlns:a="http://schemas.openxmlformats.org/drawingml/2006/main">
            <a:pPr marL="0" indent="0" algn="l">
              <a:spcBef>
                <a:spcPts val="12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>
                <a:solidFill>
                  <a:srgbClr val="6E6C68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Stage A:FRESH + rep 臂(124m,剔除欠训点后 rmse=0.0022 ✓ 干净)</a:t>
            </a:r>
          </a:p>
          <a:p xmlns:a="http://schemas.openxmlformats.org/drawingml/2006/main">
            <a:pPr marL="457200" indent="-299085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β = 0.73(数据幂律指数,由 FRESH 臂 uf8→uf1 四点钉住)</a:t>
            </a:r>
          </a:p>
          <a:p xmlns:a="http://schemas.openxmlformats.org/drawingml/2006/main">
            <a:pPr marL="457200" indent="-299085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R_d* 拟合不出来——又打到上界(2000):在拐点以下(R≤64),重复数据和新鲜数据几乎等价(rep 臂 R4→R32 提升 0.031,FRESH 8× 数据提升 0.029,基本一样)。所以 Muennighoff 式"渐进饱和"在这个语料上不成立;真实结构是"几乎不衰减,直到 R≈64–96 处突然过拟合反噬"。可交付的数字是经验拐点 R* ∈ [64, 96],而不是一个 R_d*。</a:t>
            </a:r>
          </a:p>
          <a:p xmlns:a="http://schemas.openxmlformats.org/drawingml/2006/main">
            <a:pPr mar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6E6C68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Stage B:isoJ 阶梯锁 E/A/α——目前立不住,残差有结构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E=0.222、α=1.36,但 rmse=0.0064(噪声的 3 倍),而且最大残差全落在深重复格子上(124m@c4 实测比模型好 0.018,160m@c5 好 0.013)——从 uf32 小语料标定的 (B, β) 外推到全语料大 D 区间会系统性低估收益,两臂之间还有 0.007 的截距不一致(短程 LR 调度差异)。诊断:单一 U 无关的 (B, β, R_d*) 跨语料量级不成立,要么加 U 依赖、要么加过拟合项联合拟合。α=1.36 先别引用。</a:t>
            </a:r>
          </a:p>
          <a:p xmlns:a="http://schemas.openxmlformats.org/drawingml/2006/main">
            <a:pPr marL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6E6C68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Stage C:前沿的"形状"是可靠的,数字还不是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203186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9">
            <a:extLst xmlns:a="http://schemas.openxmlformats.org/drawingml/2006/main">
              <a:ext uri="{FF2B5EF4-FFF2-40B4-BE49-F238E27FC236}">
                <a16:creationId xmlns:a16="http://schemas.microsoft.com/office/drawing/2014/main" id="{4D40F380-0946-4AE6-BB4B-ECDCB9154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数据子采样是否引入多样性偏差?——效度排查</a:t>
            </a:r>
          </a:p>
        </p:txBody>
      </p:sp>
      <p:sp>
        <p:nvSpPr>
          <p:cNvPr id="236" name="Google Shape;236;p39">
            <a:extLst xmlns:a="http://schemas.openxmlformats.org/drawingml/2006/main">
              <a:ext uri="{FF2B5EF4-FFF2-40B4-BE49-F238E27FC236}">
                <a16:creationId xmlns:a16="http://schemas.microsoft.com/office/drawing/2014/main" id="{51E6AD1D-8A57-4FDF-AE2B-EACA1CEFBC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graphicFrame>
        <p:nvGraphicFramePr>
          <p:cNvPr id="242" name="Google Shape;237;p39"/>
          <p:cNvGraphicFramePr/>
          <p:nvPr/>
        </p:nvGraphicFramePr>
        <p:xfrm>
          <a:off xmlns:a="http://schemas.openxmlformats.org/drawingml/2006/main" x="0" y="4152475"/>
          <a:ext xmlns:a="http://schemas.openxmlformats.org/drawingml/2006/main" cx="9144000" cy="927989"/>
        </p:xfrm>
        <a:graphic xmlns:a="http://schemas.openxmlformats.org/drawingml/2006/main">
          <a:graphicData uri="http://schemas.openxmlformats.org/drawingml/2006/table">
            <a:tbl>
              <a:tblPr>
                <a:tableStyleId>{32258CD8-6C08-4B06-9A69-049B32C136D7}</a:tableStyleId>
              </a:tblPr>
              <a:tblGrid>
                <a:gridCol w="2971800"/>
                <a:gridCol w="2743200"/>
                <a:gridCol w="2019300"/>
                <a:gridCol w="1409700"/>
              </a:tblGrid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指标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前 60k(头部)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分散 60k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比值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唯一序列率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100.0%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100.0%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1.00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唯一 8-mer 数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414,004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412,638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1.003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39">
            <a:extLst xmlns:a="http://schemas.openxmlformats.org/drawingml/2006/main">
              <a:ext uri="{FF2B5EF4-FFF2-40B4-BE49-F238E27FC236}">
                <a16:creationId xmlns:a16="http://schemas.microsoft.com/office/drawing/2014/main" id="{743E23E0-35EB-4ABD-A9F8-A479309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152475"/>
            <a:ext cx="89916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①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怀疑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(Concern)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训练取子集用的是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150">
                <a:solidFill>
                  <a:srgbClr val="0A0A0A"/>
                </a:solidFill>
                <a:highlight>
                  <a:srgbClr val="FDFDFC"/>
                </a:highlight>
                <a:latin typeface="Courier New"/>
                <a:ea typeface="Courier New"/>
                <a:cs typeface="Courier New"/>
              </a:rPr>
              <a:t>select(range(N))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,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即取语料前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N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条,且读取时不做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shuffle。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数据集名为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150">
                <a:solidFill>
                  <a:srgbClr val="0A0A0A"/>
                </a:solidFill>
                <a:highlight>
                  <a:srgbClr val="FDFDFC"/>
                </a:highlight>
                <a:latin typeface="Courier New"/>
                <a:ea typeface="Courier New"/>
                <a:cs typeface="Courier New"/>
              </a:rPr>
              <a:t>clustered99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。若它是按簇/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供体排序的,前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N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条就可能集中在少数几个簇、少数供体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→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多样性偏低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后果:小语料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(FRESH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臂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)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的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loss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会被抬高,把"数据量少"和"数据不多样"混为一谈,污染数据幂律指数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β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的估计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②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排查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(Investigation)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定位机制:确认全流程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150">
                <a:solidFill>
                  <a:srgbClr val="0A0A0A"/>
                </a:solidFill>
                <a:highlight>
                  <a:srgbClr val="FDFDFC"/>
                </a:highlight>
                <a:latin typeface="Courier New"/>
                <a:ea typeface="Courier New"/>
                <a:cs typeface="Courier New"/>
              </a:rPr>
              <a:t>data.py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:读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parquet→分词→存盘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)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无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shuffle、无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sort,缓存严格保留源文件行序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→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风险成立与否取决于源文件排序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设计对照实验:比较"前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60k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条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"(select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实际抓取的头部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) vs "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跨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100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个分片各取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600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条的分散样本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",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用两个与多样性直接挂钩的代理指标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——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唯一序列率和唯一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8-mer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数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后者能捕捉同供体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③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结论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Conclusion)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头部多样性与全语料分散取样几乎完全一致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比值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1.003)→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偏差不存在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澄清命名误解:</a:t>
            </a:r>
            <a:r>
              <a:rPr sz="1150">
                <a:solidFill>
                  <a:srgbClr val="0A0A0A"/>
                </a:solidFill>
                <a:highlight>
                  <a:srgbClr val="FDFDFC"/>
                </a:highlight>
                <a:latin typeface="Courier New"/>
                <a:ea typeface="Courier New"/>
                <a:cs typeface="Courier New"/>
              </a:rPr>
              <a:t>clustered99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指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99%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相似度去冗余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移除近重复,故头部亦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100%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唯一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),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并非按簇排序;行序对多样性中性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决策:子采样有效,无需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shuffle、无需分层抽样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加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shuffle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会破坏已跑子集的嵌套可比性;分层会篡改目标分布、改变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β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的定义,均不采用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。)</a:t>
            </a:r>
          </a:p>
        </p:txBody>
      </p:sp>
    </p:spTree>
    <p:extLst>
      <p:ext uri="{BB962C8B-B14F-4D97-AF65-F5344CB8AC3E}">
        <p14:creationId xmlns:p14="http://schemas.microsoft.com/office/powerpoint/2010/main" val="1819209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51">
            <a:extLst xmlns:a="http://schemas.openxmlformats.org/drawingml/2006/main">
              <a:ext uri="{FF2B5EF4-FFF2-40B4-BE49-F238E27FC236}">
                <a16:creationId xmlns:a16="http://schemas.microsoft.com/office/drawing/2014/main" id="{4BA40537-F2F9-4AB7-AD5D-5C598E07C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Figure out mini: global bsz + lr (Token-fixed, 5ep)</a:t>
            </a:r>
          </a:p>
        </p:txBody>
      </p:sp>
      <p:graphicFrame>
        <p:nvGraphicFramePr>
          <p:cNvPr id="315" name="Google Shape;313;p51"/>
          <p:cNvGraphicFramePr/>
          <p:nvPr/>
        </p:nvGraphicFramePr>
        <p:xfrm>
          <a:off xmlns:a="http://schemas.openxmlformats.org/drawingml/2006/main" x="171450" y="15603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{32258CD8-6C08-4B06-9A69-049B32C136D7}</a:tableStyleId>
              </a:tblPr>
              <a:tblGrid>
                <a:gridCol w="1581150"/>
                <a:gridCol w="1028700"/>
                <a:gridCol w="1028700"/>
                <a:gridCol w="1028700"/>
                <a:gridCol w="104775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global batch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1e-4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2e-4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3e-4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4e-4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6e-4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8e-4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1e-3</a:t>
                      </a:r>
                    </a:p>
                  </a:txBody>
                  <a:tcPr marL="91425" marR="91425" marT="91425" marB="91425"/>
                </a:tc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512, 68792 st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0.22808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0.22762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0.22754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0.22731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0.22753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0.22746</a:t>
                      </a:r>
                    </a:p>
                  </a:txBody>
                  <a:tcPr marL="91425" marR="91425" marT="91425" marB="91425"/>
                </a:tc>
              </a:tr>
              <a:tr h="371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768, 45861 st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0.22956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0.22890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</a:tr>
              <a:tr h="371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1024, 34396 st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0.22825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0.22850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340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51">
            <a:extLst xmlns:a="http://schemas.openxmlformats.org/drawingml/2006/main">
              <a:ext uri="{FF2B5EF4-FFF2-40B4-BE49-F238E27FC236}">
                <a16:creationId xmlns:a16="http://schemas.microsoft.com/office/drawing/2014/main" id="{4BA40537-F2F9-4AB7-AD5D-5C598E07C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Figure out mini: global bsz + lr (Token-fixed, 5ep)</a:t>
            </a:r>
          </a:p>
        </p:txBody>
      </p:sp>
      <p:graphicFrame>
        <p:nvGraphicFramePr>
          <p:cNvPr id="315" name="Google Shape;313;p51"/>
          <p:cNvGraphicFramePr/>
          <p:nvPr/>
        </p:nvGraphicFramePr>
        <p:xfrm>
          <a:off xmlns:a="http://schemas.openxmlformats.org/drawingml/2006/main" x="171450" y="15603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{32258CD8-6C08-4B06-9A69-049B32C136D7}</a:tableStyleId>
              </a:tblPr>
              <a:tblGrid>
                <a:gridCol w="1581150"/>
                <a:gridCol w="1028700"/>
                <a:gridCol w="1028700"/>
                <a:gridCol w="1028700"/>
                <a:gridCol w="104775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global batch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1e-4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2e-4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3e-4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4e-4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6e-4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8e-4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1e-3</a:t>
                      </a:r>
                    </a:p>
                  </a:txBody>
                  <a:tcPr marL="91425" marR="91425" marT="91425" marB="91425"/>
                </a:tc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512, 68792 st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0.22808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0.22762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0.22754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>0.22731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0.22753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0.22746</a:t>
                      </a:r>
                    </a:p>
                  </a:txBody>
                  <a:tcPr marL="91425" marR="91425" marT="91425" marB="91425"/>
                </a:tc>
              </a:tr>
              <a:tr h="371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768, 45861 st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0.22956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0.22890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</a:tr>
              <a:tr h="371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1024, 34396 st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0.22825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>0.22850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</a:rPr>
                        <a:t>-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3401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9">
            <a:extLst xmlns:a="http://schemas.openxmlformats.org/drawingml/2006/main">
              <a:ext uri="{FF2B5EF4-FFF2-40B4-BE49-F238E27FC236}">
                <a16:creationId xmlns:a16="http://schemas.microsoft.com/office/drawing/2014/main" id="{4D40F380-0946-4AE6-BB4B-ECDCB9154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数据子采样是否引入多样性偏差?——效度排查</a:t>
            </a:r>
          </a:p>
        </p:txBody>
      </p:sp>
      <p:sp>
        <p:nvSpPr>
          <p:cNvPr id="236" name="Google Shape;236;p39">
            <a:extLst xmlns:a="http://schemas.openxmlformats.org/drawingml/2006/main">
              <a:ext uri="{FF2B5EF4-FFF2-40B4-BE49-F238E27FC236}">
                <a16:creationId xmlns:a16="http://schemas.microsoft.com/office/drawing/2014/main" id="{51E6AD1D-8A57-4FDF-AE2B-EACA1CEFBC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graphicFrame>
        <p:nvGraphicFramePr>
          <p:cNvPr id="242" name="Google Shape;237;p39"/>
          <p:cNvGraphicFramePr/>
          <p:nvPr/>
        </p:nvGraphicFramePr>
        <p:xfrm>
          <a:off xmlns:a="http://schemas.openxmlformats.org/drawingml/2006/main" x="0" y="4152475"/>
          <a:ext xmlns:a="http://schemas.openxmlformats.org/drawingml/2006/main" cx="9144000" cy="927989"/>
        </p:xfrm>
        <a:graphic xmlns:a="http://schemas.openxmlformats.org/drawingml/2006/main">
          <a:graphicData uri="http://schemas.openxmlformats.org/drawingml/2006/table">
            <a:tbl>
              <a:tblPr>
                <a:tableStyleId>{32258CD8-6C08-4B06-9A69-049B32C136D7}</a:tableStyleId>
              </a:tblPr>
              <a:tblGrid>
                <a:gridCol w="2971800"/>
                <a:gridCol w="2743200"/>
                <a:gridCol w="2019300"/>
                <a:gridCol w="1409700"/>
              </a:tblGrid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指标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前 60k(头部)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分散 60k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比值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唯一序列率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100.0%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100.0%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1.00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唯一 8-mer 数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414,004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412,638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1.003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39">
            <a:extLst xmlns:a="http://schemas.openxmlformats.org/drawingml/2006/main">
              <a:ext uri="{FF2B5EF4-FFF2-40B4-BE49-F238E27FC236}">
                <a16:creationId xmlns:a16="http://schemas.microsoft.com/office/drawing/2014/main" id="{743E23E0-35EB-4ABD-A9F8-A479309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152475"/>
            <a:ext cx="89916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①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怀疑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(Concern)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训练取子集用的是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150">
                <a:solidFill>
                  <a:srgbClr val="0A0A0A"/>
                </a:solidFill>
                <a:highlight>
                  <a:srgbClr val="FDFDFC"/>
                </a:highlight>
                <a:latin typeface="Courier New"/>
                <a:ea typeface="Courier New"/>
                <a:cs typeface="Courier New"/>
              </a:rPr>
              <a:t>select(range(N))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,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即取语料前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N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条,且读取时不做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shuffle。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数据集名为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150">
                <a:solidFill>
                  <a:srgbClr val="0A0A0A"/>
                </a:solidFill>
                <a:highlight>
                  <a:srgbClr val="FDFDFC"/>
                </a:highlight>
                <a:latin typeface="Courier New"/>
                <a:ea typeface="Courier New"/>
                <a:cs typeface="Courier New"/>
              </a:rPr>
              <a:t>clustered99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。若它是按簇/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供体排序的,前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N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条就可能集中在少数几个簇、少数供体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→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多样性偏低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后果:小语料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(FRESH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臂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)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的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loss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会被抬高,把"数据量少"和"数据不多样"混为一谈,污染数据幂律指数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β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的估计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②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排查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(Investigation)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定位机制:确认全流程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150">
                <a:solidFill>
                  <a:srgbClr val="0A0A0A"/>
                </a:solidFill>
                <a:highlight>
                  <a:srgbClr val="FDFDFC"/>
                </a:highlight>
                <a:latin typeface="Courier New"/>
                <a:ea typeface="Courier New"/>
                <a:cs typeface="Courier New"/>
              </a:rPr>
              <a:t>data.py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:读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parquet→分词→存盘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)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无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shuffle、无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sort,缓存严格保留源文件行序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→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风险成立与否取决于源文件排序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设计对照实验:比较"前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60k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条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"(select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实际抓取的头部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) vs "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跨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100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个分片各取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600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条的分散样本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",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用两个与多样性直接挂钩的代理指标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——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唯一序列率和唯一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8-mer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数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后者能捕捉同供体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③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结论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Conclusion)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头部多样性与全语料分散取样几乎完全一致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比值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1.003)→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偏差不存在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澄清命名误解:</a:t>
            </a:r>
            <a:r>
              <a:rPr sz="1150">
                <a:solidFill>
                  <a:srgbClr val="0A0A0A"/>
                </a:solidFill>
                <a:highlight>
                  <a:srgbClr val="FDFDFC"/>
                </a:highlight>
                <a:latin typeface="Courier New"/>
                <a:ea typeface="Courier New"/>
                <a:cs typeface="Courier New"/>
              </a:rPr>
              <a:t>clustered99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指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99%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相似度去冗余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移除近重复,故头部亦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100%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唯一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),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并非按簇排序;行序对多样性中性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决策:子采样有效,无需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shuffle、无需分层抽样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。(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加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shuffle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会破坏已跑子集的嵌套可比性;分层会篡改目标分布、改变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 β 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的定义,均不采用</a:t>
            </a: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。)</a:t>
            </a:r>
          </a:p>
        </p:txBody>
      </p:sp>
    </p:spTree>
    <p:extLst>
      <p:ext uri="{BB962C8B-B14F-4D97-AF65-F5344CB8AC3E}">
        <p14:creationId xmlns:p14="http://schemas.microsoft.com/office/powerpoint/2010/main" val="18192094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Google Shape;243;p40">
            <a:extLst xmlns:a="http://schemas.openxmlformats.org/drawingml/2006/main">
              <a:ext uri="{FF2B5EF4-FFF2-40B4-BE49-F238E27FC236}">
                <a16:creationId xmlns:a16="http://schemas.microsoft.com/office/drawing/2014/main" id="{813F6874-FF12-4777-BBAE-751CA5305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Steps</a:t>
            </a:r>
          </a:p>
        </p:txBody>
      </p:sp>
      <p:sp>
        <p:nvSpPr>
          <p:cNvPr id="244" name="Google Shape;244;p40">
            <a:extLst xmlns:a="http://schemas.openxmlformats.org/drawingml/2006/main">
              <a:ext uri="{FF2B5EF4-FFF2-40B4-BE49-F238E27FC236}">
                <a16:creationId xmlns:a16="http://schemas.microsoft.com/office/drawing/2014/main" id="{4C79A97B-A1E9-41E7-911C-12FC318D55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graphicFrame>
        <p:nvGraphicFramePr>
          <p:cNvPr id="248" name="Google Shape;245;p40"/>
          <p:cNvGraphicFramePr/>
          <p:nvPr/>
        </p:nvGraphicFramePr>
        <p:xfrm>
          <a:off xmlns:a="http://schemas.openxmlformats.org/drawingml/2006/main" x="0" y="1152475"/>
          <a:ext xmlns:a="http://schemas.openxmlformats.org/drawingml/2006/main" cx="9144000" cy="3221990"/>
        </p:xfrm>
        <a:graphic xmlns:a="http://schemas.openxmlformats.org/drawingml/2006/main">
          <a:graphicData uri="http://schemas.openxmlformats.org/drawingml/2006/table">
            <a:tbl>
              <a:tblPr>
                <a:solidFill>
                  <a:srgbClr val="FDFDFC"/>
                </a:solidFill>
                <a:tableStyleId>{32258CD8-6C08-4B06-9A69-049B32C136D7}</a:tableStyleId>
              </a:tblPr>
              <a:tblGrid>
                <a:gridCol w="161925"/>
                <a:gridCol w="5476875"/>
                <a:gridCol w="2066925"/>
                <a:gridCol w="1438275"/>
              </a:tblGrid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#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Step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Gives you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Status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isoFLOP ladder stage-1 (c1–c3, 19 main + 3 aspect)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α, A; the N-frontier for figs (a),(b),(d)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running (4833–4851, 4855)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Read bowls → fit partial N*(C), D*(C) → submit stage-2 c4–c5 (9 targeted jobs)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high-C end of the frontier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queued to gate on step 1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Build + run the R_d* two-arm grid (fixed N=124m)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β, B, E (fresh arm) and R_d* (repetition arm)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not started — the gap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Write fit_rd.py: joint fit of all 6 params to ladder + grid (Huber L-BFGS, log-space, Hoffmann protocol)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E, A, α, B, β, R_d* with CIs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not started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Eval-correctness pass: all runs on same held-out eval-50k, same masking, final LR→0 eval; leave-one-budget-out cross-val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trustworthy surface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not started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6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Figures (a)–(d) from the fitted surface + overlay real runs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the deliverable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not started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9364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2026-07-14T19:25:43.6830000Z</dcterms:created>
  <dcterms:modified xsi:type="dcterms:W3CDTF">2026-07-14T19:25:43.6830000Z</dcterms:modified>
</coreProperties>
</file>