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c6f5e2e49e4059" /><Relationship Type="http://schemas.openxmlformats.org/officeDocument/2006/relationships/extended-properties" Target="/docProps/app.xml" Id="R797ee97fe4284abb" /><Relationship Type="http://schemas.openxmlformats.org/officeDocument/2006/relationships/officeDocument" Target="/ppt/presentation.xml" Id="Rb672ff18c22845a6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5a4b5735bc54e35"/>
  </p:sldMasterIdLst>
  <p:notesMasterIdLst>
    <p:notesMasterId xmlns:r="http://schemas.openxmlformats.org/officeDocument/2006/relationships" r:id="R6ed7d5f9b4054768"/>
  </p:notesMasterIdLst>
  <p:sldIdLst>
    <p:sldId xmlns:r="http://schemas.openxmlformats.org/officeDocument/2006/relationships" id="256" r:id="R7b407cdf3cbf49fe"/>
    <p:sldId xmlns:r="http://schemas.openxmlformats.org/officeDocument/2006/relationships" id="257" r:id="R5cf7a104a12d4388"/>
    <p:sldId xmlns:r="http://schemas.openxmlformats.org/officeDocument/2006/relationships" id="258" r:id="R582343a550a34896"/>
    <p:sldId xmlns:r="http://schemas.openxmlformats.org/officeDocument/2006/relationships" id="259" r:id="R00f031f5361743be"/>
    <p:sldId xmlns:r="http://schemas.openxmlformats.org/officeDocument/2006/relationships" id="260" r:id="R325ceb5ea3304778"/>
    <p:sldId xmlns:r="http://schemas.openxmlformats.org/officeDocument/2006/relationships" id="261" r:id="R1d54912c02194978"/>
    <p:sldId xmlns:r="http://schemas.openxmlformats.org/officeDocument/2006/relationships" id="262" r:id="R3541dd1b099e46d3"/>
    <p:sldId xmlns:r="http://schemas.openxmlformats.org/officeDocument/2006/relationships" id="263" r:id="Ra735ffb7e3fe4a7c"/>
    <p:sldId xmlns:r="http://schemas.openxmlformats.org/officeDocument/2006/relationships" id="264" r:id="R674853837c604bb9"/>
  </p:sldIdLst>
  <p:sldSz cx="9144000" cy="5143500"/>
  <p:notesSz cx="6858000" cy="9144000"/>
  <p:embeddedFontLst>
    <p:embeddedFont>
      <p:font typeface="Roboto"/>
      <p:regular xmlns:r="http://schemas.openxmlformats.org/officeDocument/2006/relationships" r:id="Radab4b2d473943c4"/>
      <p:bold xmlns:r="http://schemas.openxmlformats.org/officeDocument/2006/relationships" r:id="R8613e151dce244bd"/>
      <p:italic xmlns:r="http://schemas.openxmlformats.org/officeDocument/2006/relationships" r:id="Rcbfda6f80eb64e1e"/>
      <p:boldItalic xmlns:r="http://schemas.openxmlformats.org/officeDocument/2006/relationships" r:id="R79c2ca7b10894ee1"/>
    </p:embeddedFont>
    <p:embeddedFont>
      <p:font typeface="Roboto Mono"/>
      <p:regular xmlns:r="http://schemas.openxmlformats.org/officeDocument/2006/relationships" r:id="Rc84ed4ab881644e5"/>
      <p:bold xmlns:r="http://schemas.openxmlformats.org/officeDocument/2006/relationships" r:id="R5019803cebd14740"/>
      <p:italic xmlns:r="http://schemas.openxmlformats.org/officeDocument/2006/relationships" r:id="R834a6cc586374a46"/>
      <p:boldItalic xmlns:r="http://schemas.openxmlformats.org/officeDocument/2006/relationships" r:id="R3cb296b6fd7b4aa4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32258CD8-6C08-4B06-9A69-049B32C136D7}">
  <a:tblStyle styleId="{32258CD8-6C08-4B06-9A69-049B32C136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9bc477cfb644fd" /><Relationship Type="http://schemas.openxmlformats.org/officeDocument/2006/relationships/slideMaster" Target="/ppt/slideMasters/slideMaster1.xml" Id="R25a4b5735bc54e35" /><Relationship Type="http://schemas.openxmlformats.org/officeDocument/2006/relationships/notesMaster" Target="/ppt/notesMasters/notesMaster1.xml" Id="R6ed7d5f9b4054768" /><Relationship Type="http://schemas.openxmlformats.org/officeDocument/2006/relationships/presProps" Target="/ppt/presProps.xml" Id="R0ddd71baae814a23" /><Relationship Type="http://schemas.openxmlformats.org/officeDocument/2006/relationships/viewProps" Target="/ppt/viewProps.xml" Id="Rcc2cbfc8fcda4699" /><Relationship Type="http://schemas.openxmlformats.org/officeDocument/2006/relationships/tableStyles" Target="/ppt/tableStyles.xml" Id="R88f07367dc9d4f50" /><Relationship Type="http://schemas.openxmlformats.org/officeDocument/2006/relationships/font" Target="/ppt/fonts/font.dat" Id="Radab4b2d473943c4" /><Relationship Type="http://schemas.openxmlformats.org/officeDocument/2006/relationships/font" Target="/ppt/fonts/font2.dat" Id="R8613e151dce244bd" /><Relationship Type="http://schemas.openxmlformats.org/officeDocument/2006/relationships/font" Target="/ppt/fonts/font3.dat" Id="Rcbfda6f80eb64e1e" /><Relationship Type="http://schemas.openxmlformats.org/officeDocument/2006/relationships/font" Target="/ppt/fonts/font4.dat" Id="R79c2ca7b10894ee1" /><Relationship Type="http://schemas.openxmlformats.org/officeDocument/2006/relationships/font" Target="/ppt/fonts/font5.dat" Id="Rc84ed4ab881644e5" /><Relationship Type="http://schemas.openxmlformats.org/officeDocument/2006/relationships/font" Target="/ppt/fonts/font6.dat" Id="R5019803cebd14740" /><Relationship Type="http://schemas.openxmlformats.org/officeDocument/2006/relationships/font" Target="/ppt/fonts/font7.dat" Id="R834a6cc586374a46" /><Relationship Type="http://schemas.openxmlformats.org/officeDocument/2006/relationships/font" Target="/ppt/fonts/font8.dat" Id="R3cb296b6fd7b4aa4" /><Relationship Type="http://schemas.openxmlformats.org/officeDocument/2006/relationships/slide" Target="/ppt/slides/slide1.xml" Id="R7b407cdf3cbf49fe" /><Relationship Type="http://schemas.openxmlformats.org/officeDocument/2006/relationships/slide" Target="/ppt/slides/slide2.xml" Id="R5cf7a104a12d4388" /><Relationship Type="http://schemas.openxmlformats.org/officeDocument/2006/relationships/slide" Target="/ppt/slides/slide3.xml" Id="R582343a550a34896" /><Relationship Type="http://schemas.openxmlformats.org/officeDocument/2006/relationships/slide" Target="/ppt/slides/slide4.xml" Id="R00f031f5361743be" /><Relationship Type="http://schemas.openxmlformats.org/officeDocument/2006/relationships/slide" Target="/ppt/slides/slide5.xml" Id="R325ceb5ea3304778" /><Relationship Type="http://schemas.openxmlformats.org/officeDocument/2006/relationships/slide" Target="/ppt/slides/slide6.xml" Id="R1d54912c02194978" /><Relationship Type="http://schemas.openxmlformats.org/officeDocument/2006/relationships/slide" Target="/ppt/slides/slide7.xml" Id="R3541dd1b099e46d3" /><Relationship Type="http://schemas.openxmlformats.org/officeDocument/2006/relationships/slide" Target="/ppt/slides/slide8.xml" Id="Ra735ffb7e3fe4a7c" /><Relationship Type="http://schemas.openxmlformats.org/officeDocument/2006/relationships/slide" Target="/ppt/slides/slide9.xml" Id="R674853837c604b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97a73c13d34c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7412895d704644" /><Relationship Type="http://schemas.openxmlformats.org/officeDocument/2006/relationships/notesMaster" Target="/ppt/notesMasters/notesMaster1.xml" Id="Rc7d90a914bb142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9d0eedd4ba471d" /><Relationship Type="http://schemas.openxmlformats.org/officeDocument/2006/relationships/notesMaster" Target="/ppt/notesMasters/notesMaster1.xml" Id="R219660c53c2643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3d5bc516c94901" /><Relationship Type="http://schemas.openxmlformats.org/officeDocument/2006/relationships/notesMaster" Target="/ppt/notesMasters/notesMaster1.xml" Id="Rf1544885c3c94d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5d946b8afa4ea8" /><Relationship Type="http://schemas.openxmlformats.org/officeDocument/2006/relationships/notesMaster" Target="/ppt/notesMasters/notesMaster1.xml" Id="Re2206c91fecd45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ac9b4be3e24b32" /><Relationship Type="http://schemas.openxmlformats.org/officeDocument/2006/relationships/notesMaster" Target="/ppt/notesMasters/notesMaster1.xml" Id="R6e80f8e89c9241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1b2b35978049ed" /><Relationship Type="http://schemas.openxmlformats.org/officeDocument/2006/relationships/notesMaster" Target="/ppt/notesMasters/notesMaster1.xml" Id="Rc7fbd141186040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ee5056301440a6" /><Relationship Type="http://schemas.openxmlformats.org/officeDocument/2006/relationships/notesMaster" Target="/ppt/notesMasters/notesMaster1.xml" Id="R135325f92e0745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a0e1e2087c44c2" /><Relationship Type="http://schemas.openxmlformats.org/officeDocument/2006/relationships/notesMaster" Target="/ppt/notesMasters/notesMaster1.xml" Id="Rf41693acef6a47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77cb03ac044a74" /><Relationship Type="http://schemas.openxmlformats.org/officeDocument/2006/relationships/notesMaster" Target="/ppt/notesMasters/notesMaster1.xml" Id="R765bb7de505c4c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 with the decision state: this deck is not a positive-result claim. The first matched causal run remains blind.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 of 2026-07-14 12:34:25 PDT. The job-level ask is operational continuity only; it is not a request for a wider experiment grid.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final win also requires active &gt; reward-aware online ICL. The comparator is deliberately gated to avoid spending compute after a failed causal screen.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</a:rPr>
              <a:t>Negative results are progress here: each retired mechanism reduces the search space. No broad post-hoc sweep is 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causal estimand is the paired active-minus-LR0 difference under a frozen comparison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Metadata only as of 2026-07-14 12:34:25 PDT. All three collector tapes are sealed, and their contents were not opened. Six paired active/LR0 cells are running blind. Wrapper PID 34747 is alive. There are no attempt-level terminal, error, fail, replay, eval, or decision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Task snapshots filter sweep=results primary families and exclude results_probe. Historical audit artifact SHA-256 7b3163cb660e73c7c70f757565667fbdf830e7f34cd628549d2841fc443e1098. Each pairable bonenv/full family has one repeat.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audit milestone is meaningful because it removes current exploitable P0/P1 paths. It does not authorize production use while the provider is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Resource ask: keep the current A100 40G job alive until attempt sealing; no additional GPU allocation and no broad sweep.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717e961bc4e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07e808b614f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8d4d7599449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aaf8189a440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8adf2ba9e4f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c11a4e0b9449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d30d4d0b8495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1eb5cf3094b8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807cbc21b41f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0c220ae6e4f9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79cdace1f49a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B166C34A-38B4-4347-A15C-C3D6767CB4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A9252E1D-EE7B-4D18-95CA-94A5ECE03A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4C55BA1-8DE3-4567-AD5B-08C76A2A4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98E6FF22-B45F-4E27-B8D4-0EB3DAD2D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A1C361E-6A6D-4ABC-B2DE-5CED5654D9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FB62551-F872-413B-9E0A-FDBA02B63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A5686B10-8DD9-40CE-A598-9DB5211F4D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498614D2-A640-4874-A37A-91ADB47485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43ACAA12-E12B-4366-88AB-1EF729BEE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C41C939E-7670-46F0-BE7E-E2528AAA3B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B351BE92-04BA-4351-927F-A25D9E0C70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ED2765DB-3741-4DED-BABA-C88B1EF52D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5FB2F43A-4E8B-4984-8CF9-627494FC6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0BDA3BEC-4A6F-4256-98FC-16E9E938DF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081C92A1-46E1-46AA-8959-AB4E810AD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8F192D27-3616-4490-AFEC-D79290418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DB8477C-7C95-4BF7-8ADA-464BD5F8F5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E1977010-FCD7-4C5A-89A9-73A9221D7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3A6C2268-B741-44CE-99D5-4430D52881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15244202-7E66-4D11-9F8C-87F7B060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4173FCA-E207-4DBD-9033-0026CB5B7B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62945E9-CCC1-4EAA-B2AE-9D0D33E7D7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98BBCE13-0422-4A87-A36F-3EA22BE64C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D43DFF17-3294-4419-9987-22DDC9DD69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81F39CD2-6DFF-4945-9939-FECE666FEE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E8F5C227-E254-4CD5-B3BF-9E87D4E90A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0346F114-E2E0-4878-9315-A6DFBC8118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E4E40DD2-9131-49EB-BCC8-200A09831D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53C4CDE5-5719-43BB-AB26-D3AF40846C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9459162F-F543-4A68-918D-2EA7D86A6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9453976924380" /><Relationship Type="http://schemas.openxmlformats.org/officeDocument/2006/relationships/slideLayout" Target="/ppt/slideLayouts/slideLayout1.xml" Id="Rbda6bd1123774eff" /><Relationship Type="http://schemas.openxmlformats.org/officeDocument/2006/relationships/slideLayout" Target="/ppt/slideLayouts/slideLayout2.xml" Id="Rce521b5d1c4c4d32" /><Relationship Type="http://schemas.openxmlformats.org/officeDocument/2006/relationships/slideLayout" Target="/ppt/slideLayouts/slideLayout3.xml" Id="Red54fbaeef8b485a" /><Relationship Type="http://schemas.openxmlformats.org/officeDocument/2006/relationships/slideLayout" Target="/ppt/slideLayouts/slideLayout4.xml" Id="R072e940c1d8a4b0c" /><Relationship Type="http://schemas.openxmlformats.org/officeDocument/2006/relationships/slideLayout" Target="/ppt/slideLayouts/slideLayout5.xml" Id="R87e34519f4534dcf" /><Relationship Type="http://schemas.openxmlformats.org/officeDocument/2006/relationships/slideLayout" Target="/ppt/slideLayouts/slideLayout6.xml" Id="Rf48c8eb5f99e4a7c" /><Relationship Type="http://schemas.openxmlformats.org/officeDocument/2006/relationships/slideLayout" Target="/ppt/slideLayouts/slideLayout7.xml" Id="R043dc87a8d104b5b" /><Relationship Type="http://schemas.openxmlformats.org/officeDocument/2006/relationships/slideLayout" Target="/ppt/slideLayouts/slideLayout8.xml" Id="R1bfdddfeb2de421e" /><Relationship Type="http://schemas.openxmlformats.org/officeDocument/2006/relationships/slideLayout" Target="/ppt/slideLayouts/slideLayout9.xml" Id="Radfcb1c628db46a0" /><Relationship Type="http://schemas.openxmlformats.org/officeDocument/2006/relationships/slideLayout" Target="/ppt/slideLayouts/slideLayout10.xml" Id="R37ad36673c044dfc" /><Relationship Type="http://schemas.openxmlformats.org/officeDocument/2006/relationships/slideLayout" Target="/ppt/slideLayouts/slideLayout11.xml" Id="Ree093dab7a604866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54AFDEA-234F-4ADF-885D-4BCF37EE7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B07F339D-9503-4A83-A8BD-76C44FFCDB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9DC6A97A-7D05-4569-998D-B378D0ED4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6bd1123774eff"/>
    <p:sldLayoutId xmlns:r="http://schemas.openxmlformats.org/officeDocument/2006/relationships" id="2147483650" r:id="Rce521b5d1c4c4d32"/>
    <p:sldLayoutId xmlns:r="http://schemas.openxmlformats.org/officeDocument/2006/relationships" id="2147483651" r:id="Red54fbaeef8b485a"/>
    <p:sldLayoutId xmlns:r="http://schemas.openxmlformats.org/officeDocument/2006/relationships" id="2147483652" r:id="R072e940c1d8a4b0c"/>
    <p:sldLayoutId xmlns:r="http://schemas.openxmlformats.org/officeDocument/2006/relationships" id="2147483653" r:id="R87e34519f4534dcf"/>
    <p:sldLayoutId xmlns:r="http://schemas.openxmlformats.org/officeDocument/2006/relationships" id="2147483654" r:id="Rf48c8eb5f99e4a7c"/>
    <p:sldLayoutId xmlns:r="http://schemas.openxmlformats.org/officeDocument/2006/relationships" id="2147483655" r:id="R043dc87a8d104b5b"/>
    <p:sldLayoutId xmlns:r="http://schemas.openxmlformats.org/officeDocument/2006/relationships" id="2147483656" r:id="R1bfdddfeb2de421e"/>
    <p:sldLayoutId xmlns:r="http://schemas.openxmlformats.org/officeDocument/2006/relationships" id="2147483657" r:id="Radfcb1c628db46a0"/>
    <p:sldLayoutId xmlns:r="http://schemas.openxmlformats.org/officeDocument/2006/relationships" id="2147483658" r:id="R37ad36673c044dfc"/>
    <p:sldLayoutId xmlns:r="http://schemas.openxmlformats.org/officeDocument/2006/relationships" id="2147483659" r:id="Ree093dab7a604866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c1ab7ed014808" /><Relationship Type="http://schemas.openxmlformats.org/officeDocument/2006/relationships/notesSlide" Target="/ppt/notesSlides/notesSlide1.xml" Id="R1723ca8fb1e2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2f58c2c6c64779" /><Relationship Type="http://schemas.openxmlformats.org/officeDocument/2006/relationships/notesSlide" Target="/ppt/notesSlides/notesSlide2.xml" Id="R2dcb5919bc7b49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bfa06de64f494c" /><Relationship Type="http://schemas.openxmlformats.org/officeDocument/2006/relationships/notesSlide" Target="/ppt/notesSlides/notesSlide3.xml" Id="R5c2c403f4fab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3e5e517aff4717" /><Relationship Type="http://schemas.openxmlformats.org/officeDocument/2006/relationships/notesSlide" Target="/ppt/notesSlides/notesSlide4.xml" Id="R76261f8f37e5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24ddb8caea4ecd" /><Relationship Type="http://schemas.openxmlformats.org/officeDocument/2006/relationships/notesSlide" Target="/ppt/notesSlides/notesSlide5.xml" Id="R8a8f120ab42a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25ce8e3473442d" /><Relationship Type="http://schemas.openxmlformats.org/officeDocument/2006/relationships/notesSlide" Target="/ppt/notesSlides/notesSlide6.xml" Id="Rdea8a0b4838145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76404acfac40a7" /><Relationship Type="http://schemas.openxmlformats.org/officeDocument/2006/relationships/notesSlide" Target="/ppt/notesSlides/notesSlide7.xml" Id="Rf3bf836c28d3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599cc8d5204c3c" /><Relationship Type="http://schemas.openxmlformats.org/officeDocument/2006/relationships/notesSlide" Target="/ppt/notesSlides/notesSlide8.xml" Id="Rab903ae85e40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2bf9e5460d4113" /><Relationship Type="http://schemas.openxmlformats.org/officeDocument/2006/relationships/notesSlide" Target="/ppt/notesSlides/notesSlide9.xml" Id="R788fd5e26bdd46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9A776632-AFB4-47A2-A227-5CB09B1F61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TTT-RL on CLBench</a:t>
            </a:r>
          </a:p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27808B16-A6CC-422C-BEFB-21262ACA3A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129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86930"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Causal advantage evaluation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UNPROVEN / FORMAL RUNNING BLIND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2026-07-14</a:t>
            </a:r>
          </a:p>
        </p:txBody>
      </p:sp>
      <p:sp>
        <p:nvSpPr>
          <p:cNvPr id="56" name="TTT-RL footer 1">
            <a:extLst xmlns:a="http://schemas.openxmlformats.org/drawingml/2006/main">
              <a:ext uri="{FF2B5EF4-FFF2-40B4-BE49-F238E27FC236}">
                <a16:creationId xmlns:a16="http://schemas.microsoft.com/office/drawing/2014/main" id="{25F420D4-9D6F-4CAA-A8CC-78B70195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1/9</a:t>
            </a:r>
          </a:p>
        </p:txBody>
      </p:sp>
    </p:spTree>
    <p:extLst>
      <p:ext uri="{BB962C8B-B14F-4D97-AF65-F5344CB8AC3E}">
        <p14:creationId xmlns:p14="http://schemas.microsoft.com/office/powerpoint/2010/main" val="15462601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25">
            <a:extLst xmlns:a="http://schemas.openxmlformats.org/drawingml/2006/main">
              <a:ext uri="{FF2B5EF4-FFF2-40B4-BE49-F238E27FC236}">
                <a16:creationId xmlns:a16="http://schemas.microsoft.com/office/drawing/2014/main" id="{8FEA7501-48CA-4A4E-ADC0-E26470E6B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UNPROVEN: the first causal test is running blind</a:t>
            </a:r>
          </a:p>
        </p:txBody>
      </p:sp>
      <p:sp>
        <p:nvSpPr>
          <p:cNvPr id="134" name="Google Shape;134;p25">
            <a:extLst xmlns:a="http://schemas.openxmlformats.org/drawingml/2006/main">
              <a:ext uri="{FF2B5EF4-FFF2-40B4-BE49-F238E27FC236}">
                <a16:creationId xmlns:a16="http://schemas.microsoft.com/office/drawing/2014/main" id="{04B34B03-58E2-45D5-A14B-0817BB5E17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457200" indent="-2921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000">
                <a:solidFill>
                  <a:srgbClr val="0A0A0A"/>
                </a:solidFill>
                <a:highlight>
                  <a:srgbClr val="F8F8F6"/>
                </a:highlight>
                <a:latin typeface="Roboto"/>
                <a:ea typeface="Roboto"/>
                <a:cs typeface="Roboto"/>
              </a:rPr>
              <a:t>Formal state: all 3 tapes sealed; 6 paired active/LR0 cells running blind.</a:t>
            </a:r>
          </a:p>
          <a:p xmlns:a="http://schemas.openxmlformats.org/drawingml/2006/main">
            <a:pPr marL="457200" indent="-2921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000">
                <a:solidFill>
                  <a:srgbClr val="0A0A0A"/>
                </a:solidFill>
                <a:highlight>
                  <a:srgbClr val="F8F8F6"/>
                </a:highlight>
                <a:latin typeface="Roboto"/>
                <a:ea typeface="Roboto"/>
                <a:cs typeface="Roboto"/>
              </a:rPr>
              <a:t>Scientific claim: no CLBench task has confirmed causal TTT-RL advantage.</a:t>
            </a:r>
          </a:p>
          <a:p xmlns:a="http://schemas.openxmlformats.org/drawingml/2006/main">
            <a:pPr marL="457200" indent="-29210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000">
                <a:solidFill>
                  <a:srgbClr val="0A0A0A"/>
                </a:solidFill>
                <a:highlight>
                  <a:srgbClr val="F8F8F6"/>
                </a:highlight>
                <a:latin typeface="Roboto"/>
                <a:ea typeface="Roboto"/>
                <a:cs typeface="Roboto"/>
              </a:rPr>
              <a:t>Decision: keep the current A100 40G job alive through attempt sealing; no added GPU and no broad sweep.</a:t>
            </a:r>
          </a:p>
        </p:txBody>
      </p:sp>
      <p:graphicFrame>
        <p:nvGraphicFramePr>
          <p:cNvPr id="139" name="Google Shape;135;p25"/>
          <p:cNvGraphicFramePr/>
          <p:nvPr/>
        </p:nvGraphicFramePr>
        <p:xfrm>
          <a:off xmlns:a="http://schemas.openxmlformats.org/drawingml/2006/main" x="276625" y="2499150"/>
          <a:ext xmlns:a="http://schemas.openxmlformats.org/drawingml/2006/main" cx="9144000" cy="1105154"/>
        </p:xfrm>
        <a:graphic xmlns:a="http://schemas.openxmlformats.org/drawingml/2006/main">
          <a:graphicData uri="http://schemas.openxmlformats.org/drawingml/2006/table">
            <a:tbl>
              <a:tblPr>
                <a:solidFill>
                  <a:srgbClr val="F8F8F6"/>
                </a:solidFill>
                <a:tableStyleId>{32258CD8-6C08-4B06-9A69-049B32C136D7}</a:tableStyleId>
              </a:tblPr>
              <a:tblGrid>
                <a:gridCol w="2038350"/>
                <a:gridCol w="2257425"/>
                <a:gridCol w="4848225"/>
              </a:tblGrid>
              <a:tr h="2571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Decision area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Current answer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Consequence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Efficacy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UNPROVEN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No partial read; wait for attempt seal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Boundary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Audited fail-closed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provider_available=false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Resources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Current A100 job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000">
                          <a:solidFill>
                            <a:srgbClr val="0A0A0A"/>
                          </a:solidFill>
                          <a:highlight>
                            <a:srgbClr val="F8F8F6"/>
                          </a:highlight>
                          <a:latin typeface="Roboto"/>
                          <a:ea typeface="Roboto"/>
                          <a:cs typeface="Roboto"/>
                        </a:rPr>
                        <a:t>Keep alive; no added GPU / sweep</a:t>
                      </a:r>
                    </a:p>
                  </a:txBody>
                  <a:tcPr marL="57150" marR="57150" marT="57150" marB="57150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6" name="TTT-RL footer 2">
            <a:extLst xmlns:a="http://schemas.openxmlformats.org/drawingml/2006/main">
              <a:ext uri="{FF2B5EF4-FFF2-40B4-BE49-F238E27FC236}">
                <a16:creationId xmlns:a16="http://schemas.microsoft.com/office/drawing/2014/main" id="{769429D3-CDE7-427E-A921-D7B0B60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2/9</a:t>
            </a:r>
          </a:p>
        </p:txBody>
      </p:sp>
    </p:spTree>
    <p:extLst>
      <p:ext uri="{BB962C8B-B14F-4D97-AF65-F5344CB8AC3E}">
        <p14:creationId xmlns:p14="http://schemas.microsoft.com/office/powerpoint/2010/main" val="19079142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E9CD3889-79BC-403D-9740-080576CA9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win means causal learning—not a better decode</a:t>
            </a:r>
          </a:p>
        </p:txBody>
      </p:sp>
      <p:sp>
        <p:nvSpPr>
          <p:cNvPr id="113" name="Google Shape;113;p22">
            <a:extLst xmlns:a="http://schemas.openxmlformats.org/drawingml/2006/main">
              <a:ext uri="{FF2B5EF4-FFF2-40B4-BE49-F238E27FC236}">
                <a16:creationId xmlns:a16="http://schemas.microsoft.com/office/drawing/2014/main" id="{180F5ABB-308C-4059-926D-0D208249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" y="1143000"/>
            <a:ext cx="8520589" cy="3047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Active and LR0/reset share prompt, candidates, order, budget, schema, and evaluation.</a:t>
            </a:r>
          </a:p>
        </p:txBody>
      </p:sp>
      <p:graphicFrame>
        <p:nvGraphicFramePr>
          <p:cNvPr id="119" name="Google Shape;114;p22"/>
          <p:cNvGraphicFramePr/>
          <p:nvPr/>
        </p:nvGraphicFramePr>
        <p:xfrm>
          <a:off xmlns:a="http://schemas.openxmlformats.org/drawingml/2006/main" x="38100" y="1733550"/>
          <a:ext xmlns:a="http://schemas.openxmlformats.org/drawingml/2006/main" cx="9067800" cy="1219200"/>
        </p:xfrm>
        <a:graphic xmlns:a="http://schemas.openxmlformats.org/drawingml/2006/main">
          <a:graphicData uri="http://schemas.openxmlformats.org/drawingml/2006/table">
            <a:tbl>
              <a:tblPr>
                <a:solidFill>
                  <a:srgbClr val="FDFDFC"/>
                </a:solidFill>
                <a:tableStyleId>{32258CD8-6C08-4B06-9A69-049B32C136D7}</a:tableStyleId>
              </a:tblPr>
              <a:tblGrid>
                <a:gridCol w="1714500"/>
                <a:gridCol w="5429250"/>
                <a:gridCol w="1924050"/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Gate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Preregistered bar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Branch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Effect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3/3 positive; mean &gt;= +0.02; clustered 95% lower &gt; 0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Fail → NO-GO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Integrity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No schema regression; active &gt; LR0/reset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Pass → online ICL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5" name="TTT-RL causal-gate note">
            <a:extLst xmlns:a="http://schemas.openxmlformats.org/drawingml/2006/main">
              <a:ext uri="{FF2B5EF4-FFF2-40B4-BE49-F238E27FC236}">
                <a16:creationId xmlns:a16="http://schemas.microsoft.com/office/drawing/2014/main" id="{8E4DD57E-4170-4849-852F-45EC0F9C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0400"/>
            <a:ext cx="853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Online ICL runs only after causal PASS; the final claim requires active &gt; online ICL. Any positive screen still requires independent N=8 confirmation.</a:t>
            </a:r>
          </a:p>
        </p:txBody>
      </p:sp>
      <p:sp>
        <p:nvSpPr>
          <p:cNvPr id="116" name="TTT-RL footer 3">
            <a:extLst xmlns:a="http://schemas.openxmlformats.org/drawingml/2006/main">
              <a:ext uri="{FF2B5EF4-FFF2-40B4-BE49-F238E27FC236}">
                <a16:creationId xmlns:a16="http://schemas.microsoft.com/office/drawing/2014/main" id="{D34892EB-403D-494C-926B-329E3EBC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3/9</a:t>
            </a:r>
          </a:p>
        </p:txBody>
      </p:sp>
    </p:spTree>
    <p:extLst>
      <p:ext uri="{BB962C8B-B14F-4D97-AF65-F5344CB8AC3E}">
        <p14:creationId xmlns:p14="http://schemas.microsoft.com/office/powerpoint/2010/main" val="1054021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41">
            <a:extLst xmlns:a="http://schemas.openxmlformats.org/drawingml/2006/main">
              <a:ext uri="{FF2B5EF4-FFF2-40B4-BE49-F238E27FC236}">
                <a16:creationId xmlns:a16="http://schemas.microsoft.com/office/drawing/2014/main" id="{086BC29B-21DD-47F4-A695-7C3D50A89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Two mechanisms were retired; one narrow test remains</a:t>
            </a:r>
          </a:p>
        </p:txBody>
      </p:sp>
      <p:sp>
        <p:nvSpPr>
          <p:cNvPr id="251" name="Google Shape;251;p41">
            <a:extLst xmlns:a="http://schemas.openxmlformats.org/drawingml/2006/main">
              <a:ext uri="{FF2B5EF4-FFF2-40B4-BE49-F238E27FC236}">
                <a16:creationId xmlns:a16="http://schemas.microsoft.com/office/drawing/2014/main" id="{7CEC74BF-7112-44F3-8C06-0EE66E2E8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658" y="1162050"/>
            <a:ext cx="8520589" cy="3181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A — Group-PG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Retired after failing the validity gate; do not resurrect.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B — Candidate distillation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Retired without a causal learning signal.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C — FORMAL RUNNING BLIND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question_only + prefix512 + env BoN8 + step1 + lr5e-4.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mechanism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Frozen-tape reward-PG plus environment-BoN best/worst SFT prefix; matched active vs LR0/reset.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NO-GO rule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Exactly one structured latent-state pivot. Sales remains secondary.</a:t>
            </a:r>
          </a:p>
        </p:txBody>
      </p:sp>
      <p:sp>
        <p:nvSpPr>
          <p:cNvPr id="252" name="TTT-RL footer 4">
            <a:extLst xmlns:a="http://schemas.openxmlformats.org/drawingml/2006/main">
              <a:ext uri="{FF2B5EF4-FFF2-40B4-BE49-F238E27FC236}">
                <a16:creationId xmlns:a16="http://schemas.microsoft.com/office/drawing/2014/main" id="{2F485E37-E3E1-4CF5-91C1-2BDE0C8E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4/9</a:t>
            </a:r>
          </a:p>
        </p:txBody>
      </p:sp>
    </p:spTree>
    <p:extLst>
      <p:ext uri="{BB962C8B-B14F-4D97-AF65-F5344CB8AC3E}">
        <p14:creationId xmlns:p14="http://schemas.microsoft.com/office/powerpoint/2010/main" val="3203186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9">
            <a:extLst xmlns:a="http://schemas.openxmlformats.org/drawingml/2006/main">
              <a:ext uri="{FF2B5EF4-FFF2-40B4-BE49-F238E27FC236}">
                <a16:creationId xmlns:a16="http://schemas.microsoft.com/office/drawing/2014/main" id="{4D40F380-0946-4AE6-BB4B-ECDCB9154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formal design isolates the learning update</a:t>
            </a:r>
          </a:p>
        </p:txBody>
      </p:sp>
      <p:graphicFrame>
        <p:nvGraphicFramePr>
          <p:cNvPr id="242" name="Google Shape;237;p39"/>
          <p:cNvGraphicFramePr/>
          <p:nvPr/>
        </p:nvGraphicFramePr>
        <p:xfrm>
          <a:off xmlns:a="http://schemas.openxmlformats.org/drawingml/2006/main" x="0" y="3857625"/>
          <a:ext xmlns:a="http://schemas.openxmlformats.org/drawingml/2006/main" cx="9144000" cy="781050"/>
        </p:xfrm>
        <a:graphic xmlns:a="http://schemas.openxmlformats.org/drawingml/2006/main">
          <a:graphicData uri="http://schemas.openxmlformats.org/drawingml/2006/table">
            <a:tbl>
              <a:tblPr>
                <a:tableStyleId>{32258CD8-6C08-4B06-9A69-049B32C136D7}</a:tableStyleId>
              </a:tblPr>
              <a:tblGrid>
                <a:gridCol w="1285875"/>
                <a:gridCol w="1428750"/>
                <a:gridCol w="1571625"/>
                <a:gridCol w="4857750"/>
              </a:tblGrid>
              <a:tr h="247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Axis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Active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LR0 / reset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Fixed contract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Update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Enabled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LR=0 / reset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Prompt / candidates / order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Evaluation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Sealed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Sealed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Budget / schema / held-out set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39">
            <a:extLst xmlns:a="http://schemas.openxmlformats.org/drawingml/2006/main">
              <a:ext uri="{FF2B5EF4-FFF2-40B4-BE49-F238E27FC236}">
                <a16:creationId xmlns:a16="http://schemas.microsoft.com/office/drawing/2014/main" id="{743E23E0-35EB-4ABD-A9F8-A479309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152525"/>
            <a:ext cx="8839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Prompt choice, candidate set, order, budget, or evaluation can mimic a gain.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Active and LR0/reset share every non-update factor.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BLIND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Held-out evaluation is sealed; no partial efficacy is read.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 Reward-aware online ICL runs only after causal PASS.</a:t>
            </a:r>
          </a:p>
        </p:txBody>
      </p:sp>
      <p:sp>
        <p:nvSpPr>
          <p:cNvPr id="240" name="TTT-RL footer 5">
            <a:extLst xmlns:a="http://schemas.openxmlformats.org/drawingml/2006/main">
              <a:ext uri="{FF2B5EF4-FFF2-40B4-BE49-F238E27FC236}">
                <a16:creationId xmlns:a16="http://schemas.microsoft.com/office/drawing/2014/main" id="{609B68DD-023F-408C-8058-A998A559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5/9</a:t>
            </a:r>
          </a:p>
        </p:txBody>
      </p:sp>
    </p:spTree>
    <p:extLst>
      <p:ext uri="{BB962C8B-B14F-4D97-AF65-F5344CB8AC3E}">
        <p14:creationId xmlns:p14="http://schemas.microsoft.com/office/powerpoint/2010/main" val="1819209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51">
            <a:extLst xmlns:a="http://schemas.openxmlformats.org/drawingml/2006/main">
              <a:ext uri="{FF2B5EF4-FFF2-40B4-BE49-F238E27FC236}">
                <a16:creationId xmlns:a16="http://schemas.microsoft.com/office/drawing/2014/main" id="{4BA40537-F2F9-4AB7-AD5D-5C598E07C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3 tapes sealed; 6 active/LR0 cells running blind</a:t>
            </a:r>
          </a:p>
        </p:txBody>
      </p:sp>
      <p:graphicFrame>
        <p:nvGraphicFramePr>
          <p:cNvPr id="317" name="Google Shape;313;p51"/>
          <p:cNvGraphicFramePr/>
          <p:nvPr/>
        </p:nvGraphicFramePr>
        <p:xfrm>
          <a:off xmlns:a="http://schemas.openxmlformats.org/drawingml/2006/main" x="171450" y="1562100"/>
          <a:ext xmlns:a="http://schemas.openxmlformats.org/drawingml/2006/main" cx="8801100" cy="1962150"/>
        </p:xfrm>
        <a:graphic xmlns:a="http://schemas.openxmlformats.org/drawingml/2006/main">
          <a:graphicData uri="http://schemas.openxmlformats.org/drawingml/2006/table">
            <a:tbl>
              <a:tblPr>
                <a:tableStyleId>{32258CD8-6C08-4B06-9A69-049B32C136D7}</a:tableStyleId>
              </a:tblPr>
              <a:tblGrid>
                <a:gridCol w="666750"/>
                <a:gridCol w="1428750"/>
                <a:gridCol w="1428750"/>
                <a:gridCol w="1428750"/>
                <a:gridCol w="1428750"/>
                <a:gridCol w="809625"/>
                <a:gridCol w="809625"/>
                <a:gridCol w="800100"/>
              </a:tblGrid>
              <a:tr h="3619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Seed</a:t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Active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LR0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3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Matched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01</a:t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RUNNING · PID 123511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GPU0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RUNNING · PID 123516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GPU2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YES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02</a:t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RUNNING · PID 123521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GPU3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RUNNING · PID 123530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GPU4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YES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03</a:t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RUNNING · PID 123540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GPU5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RUNNING · PID 123551</a:t>
                      </a:r>
                    </a:p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GPU6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YES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25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</a:tr>
            </a:tbl>
          </a:graphicData>
        </a:graphic>
      </p:graphicFrame>
      <p:sp>
        <p:nvSpPr>
          <p:cNvPr id="314" name="TTT-RL run-health note">
            <a:extLst xmlns:a="http://schemas.openxmlformats.org/drawingml/2006/main">
              <a:ext uri="{FF2B5EF4-FFF2-40B4-BE49-F238E27FC236}">
                <a16:creationId xmlns:a16="http://schemas.microsoft.com/office/drawing/2014/main" id="{F7C81487-BEB4-405D-BA75-467705C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714750"/>
            <a:ext cx="868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All six cells: R&lt;l · ~17,256 MiB · ~244–264% CPU. Wrapper PID 34747 alive. Tape contents unopened. Zero attempt-level exit, error, fail, replay, eval, or decision artifacts.</a:t>
            </a:r>
          </a:p>
        </p:txBody>
      </p:sp>
      <p:sp>
        <p:nvSpPr>
          <p:cNvPr id="315" name="TTT-RL footer 6">
            <a:extLst xmlns:a="http://schemas.openxmlformats.org/drawingml/2006/main">
              <a:ext uri="{FF2B5EF4-FFF2-40B4-BE49-F238E27FC236}">
                <a16:creationId xmlns:a16="http://schemas.microsoft.com/office/drawing/2014/main" id="{57CAE674-A198-4165-95F9-A148CFE8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6/9</a:t>
            </a:r>
          </a:p>
        </p:txBody>
      </p:sp>
    </p:spTree>
    <p:extLst>
      <p:ext uri="{BB962C8B-B14F-4D97-AF65-F5344CB8AC3E}">
        <p14:creationId xmlns:p14="http://schemas.microsoft.com/office/powerpoint/2010/main" val="2062340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51">
            <a:extLst xmlns:a="http://schemas.openxmlformats.org/drawingml/2006/main">
              <a:ext uri="{FF2B5EF4-FFF2-40B4-BE49-F238E27FC236}">
                <a16:creationId xmlns:a16="http://schemas.microsoft.com/office/drawing/2014/main" id="{4BA40537-F2F9-4AB7-AD5D-5C598E07C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89184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Historical audit: neutral overall, one exploratory Cohort lead</a:t>
            </a:r>
          </a:p>
        </p:txBody>
      </p:sp>
      <p:graphicFrame>
        <p:nvGraphicFramePr>
          <p:cNvPr id="317" name="Google Shape;313;p51"/>
          <p:cNvGraphicFramePr/>
          <p:nvPr/>
        </p:nvGraphicFramePr>
        <p:xfrm>
          <a:off xmlns:a="http://schemas.openxmlformats.org/drawingml/2006/main" x="171450" y="1562100"/>
          <a:ext xmlns:a="http://schemas.openxmlformats.org/drawingml/2006/main" cx="8801100" cy="2038350"/>
        </p:xfrm>
        <a:graphic xmlns:a="http://schemas.openxmlformats.org/drawingml/2006/main">
          <a:graphicData uri="http://schemas.openxmlformats.org/drawingml/2006/table">
            <a:tbl>
              <a:tblPr>
                <a:tableStyleId>{32258CD8-6C08-4B06-9A69-049B32C136D7}</a:tableStyleId>
              </a:tblPr>
              <a:tblGrid>
                <a:gridCol w="1762125"/>
                <a:gridCol w="714375"/>
                <a:gridCol w="1428750"/>
                <a:gridCol w="1381125"/>
                <a:gridCol w="857250"/>
                <a:gridCol w="857250"/>
                <a:gridCol w="895350"/>
                <a:gridCol w="904875"/>
              </a:tblGrid>
              <a:tr h="3619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Slice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n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Mean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Median</a:t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Signal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Interpretation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Primary sweep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1,292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-0.0246708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0</a:t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Diagnostic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Not a causal estimand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</a:tr>
              <a:tr h="5905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qonly corrected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670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407/670 within +/-0.005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249 exact zero</a:t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~61% near-zero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Neutral / fragile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</a:tr>
              <a:tr h="5905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Cohort bonenv/full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32/38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+0.0776291</a:t>
                      </a:r>
                    </a:p>
                  </a:txBody>
                  <a:tcPr marL="47625" marR="47625" marT="38100" marB="3810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+0.0853732</a:t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30+ / 2-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>Exploratory lead</a:t>
                      </a:r>
                    </a:p>
                  </a:txBody>
                  <a:tcPr marL="47625" marR="47625" marT="38100" marB="38100"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latin typeface="Arial"/>
                          <a:ea typeface="Arial"/>
                          <a:cs typeface="Arial"/>
                          <a:solidFill>
                            <a:schemeClr val="dk1"/>
                          </a:solidFill>
                        </a:rPr>
                        <a:t/>
                      </a:r>
                    </a:p>
                  </a:txBody>
                  <a:tcPr marL="47625" marR="47625" marT="38100" marB="38100" anchor="ctr"/>
                </a:tc>
              </a:tr>
            </a:tbl>
          </a:graphicData>
        </a:graphic>
      </p:graphicFrame>
      <p:sp>
        <p:nvSpPr>
          <p:cNvPr id="314" name="TTT-RL historical-audit note">
            <a:extLst xmlns:a="http://schemas.openxmlformats.org/drawingml/2006/main">
              <a:ext uri="{FF2B5EF4-FFF2-40B4-BE49-F238E27FC236}">
                <a16:creationId xmlns:a16="http://schemas.microsoft.com/office/drawing/2014/main" id="{0BE4ED9A-068B-4C2F-A60C-56237444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733800"/>
            <a:ext cx="8686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Current prereg qonly historical +0.0609273 = hypothesis selection only, not causal parameter-update evidence.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Footnote: filtered sweep=results primary families; results_probe excluded.</a:t>
            </a:r>
          </a:p>
        </p:txBody>
      </p:sp>
      <p:sp>
        <p:nvSpPr>
          <p:cNvPr id="315" name="TTT-RL footer 7">
            <a:extLst xmlns:a="http://schemas.openxmlformats.org/drawingml/2006/main">
              <a:ext uri="{FF2B5EF4-FFF2-40B4-BE49-F238E27FC236}">
                <a16:creationId xmlns:a16="http://schemas.microsoft.com/office/drawing/2014/main" id="{F589AE8B-78FA-4034-8C45-99D002E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7/9</a:t>
            </a:r>
          </a:p>
        </p:txBody>
      </p:sp>
    </p:spTree>
    <p:extLst>
      <p:ext uri="{BB962C8B-B14F-4D97-AF65-F5344CB8AC3E}">
        <p14:creationId xmlns:p14="http://schemas.microsoft.com/office/powerpoint/2010/main" val="20623401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9">
            <a:extLst xmlns:a="http://schemas.openxmlformats.org/drawingml/2006/main">
              <a:ext uri="{FF2B5EF4-FFF2-40B4-BE49-F238E27FC236}">
                <a16:creationId xmlns:a16="http://schemas.microsoft.com/office/drawing/2014/main" id="{4D40F380-0946-4AE6-BB4B-ECDCB9154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11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Boundary audit is clean, but the provider remains disabled</a:t>
            </a:r>
          </a:p>
        </p:txBody>
      </p:sp>
      <p:graphicFrame>
        <p:nvGraphicFramePr>
          <p:cNvPr id="242" name="Google Shape;237;p39"/>
          <p:cNvGraphicFramePr/>
          <p:nvPr/>
        </p:nvGraphicFramePr>
        <p:xfrm>
          <a:off xmlns:a="http://schemas.openxmlformats.org/drawingml/2006/main" x="0" y="3867150"/>
          <a:ext xmlns:a="http://schemas.openxmlformats.org/drawingml/2006/main" cx="9144000" cy="781050"/>
        </p:xfrm>
        <a:graphic xmlns:a="http://schemas.openxmlformats.org/drawingml/2006/main">
          <a:graphicData uri="http://schemas.openxmlformats.org/drawingml/2006/table">
            <a:tbl>
              <a:tblPr>
                <a:tableStyleId>{32258CD8-6C08-4B06-9A69-049B32C136D7}</a:tableStyleId>
              </a:tblPr>
              <a:tblGrid>
                <a:gridCol w="1333500"/>
                <a:gridCol w="2381250"/>
                <a:gridCol w="2095500"/>
                <a:gridCol w="3333750"/>
              </a:tblGrid>
              <a:tr h="2476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Readiness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Current state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Allowed now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Before enable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Exploit review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P0=0 / P1=0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Scaffolding only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Broker + persisted join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Provider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false / hard fail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No production reads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Schema align + Linux E2E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39">
            <a:extLst xmlns:a="http://schemas.openxmlformats.org/drawingml/2006/main">
              <a:ext uri="{FF2B5EF4-FFF2-40B4-BE49-F238E27FC236}">
                <a16:creationId xmlns:a16="http://schemas.microsoft.com/office/drawing/2014/main" id="{743E23E0-35EB-4ABD-A9F8-A479309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152525"/>
            <a:ext cx="8839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AUDIT</a:t>
            </a: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 d9346b8; 172 passed + 1 skipped; independent current exploitable P0=0 / P1=0.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FAIL-CLOSED</a:t>
            </a: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 provider_available=false; public entry fails before runtime or filesystem activity.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BOUNDARY</a:t>
            </a: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 Audited fail-closed scaffolding—not production-ready.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REMAINING</a:t>
            </a: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 Root capability broker; persisted join; receipt v2-to-v1 alignment; real Linux UID/GID plus RW-to-RO E2E.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None/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CAUSAL NEXT</a:t>
            </a: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 Only after PASS: reset/shuffle/rollback, online ICL, N=8. Sales remains secondary.</a:t>
            </a:r>
          </a:p>
        </p:txBody>
      </p:sp>
      <p:sp>
        <p:nvSpPr>
          <p:cNvPr id="240" name="TTT-RL footer 8">
            <a:extLst xmlns:a="http://schemas.openxmlformats.org/drawingml/2006/main">
              <a:ext uri="{FF2B5EF4-FFF2-40B4-BE49-F238E27FC236}">
                <a16:creationId xmlns:a16="http://schemas.microsoft.com/office/drawing/2014/main" id="{CF72B264-5AC7-4E58-B62F-DF2F523F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8/9</a:t>
            </a:r>
          </a:p>
        </p:txBody>
      </p:sp>
    </p:spTree>
    <p:extLst>
      <p:ext uri="{BB962C8B-B14F-4D97-AF65-F5344CB8AC3E}">
        <p14:creationId xmlns:p14="http://schemas.microsoft.com/office/powerpoint/2010/main" val="18192094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Google Shape;243;p40">
            <a:extLst xmlns:a="http://schemas.openxmlformats.org/drawingml/2006/main">
              <a:ext uri="{FF2B5EF4-FFF2-40B4-BE49-F238E27FC236}">
                <a16:creationId xmlns:a16="http://schemas.microsoft.com/office/drawing/2014/main" id="{813F6874-FF12-4777-BBAE-751CA5305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Next: finish the causal gate—no broad sweep</a:t>
            </a:r>
          </a:p>
        </p:txBody>
      </p:sp>
      <p:graphicFrame>
        <p:nvGraphicFramePr>
          <p:cNvPr id="249" name="Google Shape;245;p40"/>
          <p:cNvGraphicFramePr/>
          <p:nvPr/>
        </p:nvGraphicFramePr>
        <p:xfrm>
          <a:off xmlns:a="http://schemas.openxmlformats.org/drawingml/2006/main" x="0" y="1162050"/>
          <a:ext xmlns:a="http://schemas.openxmlformats.org/drawingml/2006/main" cx="9144000" cy="2724150"/>
        </p:xfrm>
        <a:graphic xmlns:a="http://schemas.openxmlformats.org/drawingml/2006/main">
          <a:graphicData uri="http://schemas.openxmlformats.org/drawingml/2006/table">
            <a:tbl>
              <a:tblPr>
                <a:solidFill>
                  <a:srgbClr val="FDFDFC"/>
                </a:solidFill>
                <a:tableStyleId>{32258CD8-6C08-4B06-9A69-049B32C136D7}</a:tableStyleId>
              </a:tblPr>
              <a:tblGrid>
                <a:gridCol w="476250"/>
                <a:gridCol w="3381375"/>
                <a:gridCol w="2619375"/>
                <a:gridCol w="2667000"/>
              </a:tblGrid>
              <a:tr h="3238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#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Next step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Decision unlocked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 b="1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Status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Finish 6 paired cells + seal attempt-002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Complete formal artifacts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Keep current A100 job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Open only after seal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Apply causal gate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Blind / non-terminal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PASS → reward-aware online ICL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Active &gt; ICL?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Gated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PASS → independent N=8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Confirmation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Gated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NO-GO → structured latent state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One pivot only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Permitted once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6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Transfer to Sales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Second-task evidence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buNone/>
                      </a:pPr>
                      <a:r>
                        <a:rPr sz="12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</a:rPr>
                        <a:t>Secondary</a:t>
                      </a:r>
                    </a:p>
                  </a:txBody>
                  <a:tcPr marL="47625" marR="47625" marT="38100" marB="38100" anchor="ctr">
                    <a:lnL cmpd="sng">
                      <a:solidFill>
                        <a:srgbClr val="000000"/>
                      </a:solidFill>
                      <a:prstDash val="solid"/>
                    </a:lnL>
                    <a:lnR cmpd="sng">
                      <a:solidFill>
                        <a:srgbClr val="000000"/>
                      </a:solidFill>
                      <a:prstDash val="solid"/>
                    </a:lnR>
                    <a:lnT cmpd="sng">
                      <a:solidFill>
                        <a:srgbClr val="000000"/>
                      </a:solidFill>
                      <a:prstDash val="solid"/>
                    </a:lnT>
                    <a:lnB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6" name="TTT-RL resource ask">
            <a:extLst xmlns:a="http://schemas.openxmlformats.org/drawingml/2006/main">
              <a:ext uri="{FF2B5EF4-FFF2-40B4-BE49-F238E27FC236}">
                <a16:creationId xmlns:a16="http://schemas.microsoft.com/office/drawing/2014/main" id="{55FD6A7D-945A-410B-85C8-761F465E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14800"/>
            <a:ext cx="868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Resource ask: Keep the current A100 40G job alive until attempt sealing; no additional GPU allocation and no broad sweep.</a:t>
            </a:r>
          </a:p>
        </p:txBody>
      </p:sp>
      <p:sp>
        <p:nvSpPr>
          <p:cNvPr id="247" name="TTT-RL footer 9">
            <a:extLst xmlns:a="http://schemas.openxmlformats.org/drawingml/2006/main">
              <a:ext uri="{FF2B5EF4-FFF2-40B4-BE49-F238E27FC236}">
                <a16:creationId xmlns:a16="http://schemas.microsoft.com/office/drawing/2014/main" id="{0308B443-A25A-4A13-B833-461AC86F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1012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66666"/>
                </a:solidFill>
                <a:latin typeface="Arial"/>
                <a:ea typeface="Arial"/>
                <a:cs typeface="Arial"/>
              </a:rPr>
              <a:t>2026-07-14 · branch d9346b8 · causal 1caf142 · attempt-002 · FORMAL BLIND · 9/9</a:t>
            </a:r>
          </a:p>
        </p:txBody>
      </p:sp>
    </p:spTree>
    <p:extLst>
      <p:ext uri="{BB962C8B-B14F-4D97-AF65-F5344CB8AC3E}">
        <p14:creationId xmlns:p14="http://schemas.microsoft.com/office/powerpoint/2010/main" val="17949364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2026-07-14T19:40:00.9760000Z</dcterms:created>
  <dcterms:modified xsi:type="dcterms:W3CDTF">2026-07-14T19:40:00.9760000Z</dcterms:modified>
</coreProperties>
</file>